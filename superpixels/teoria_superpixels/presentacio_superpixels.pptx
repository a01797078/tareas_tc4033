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256" r:id="rId2"/>
    <p:sldId id="266" r:id="rId3"/>
    <p:sldId id="257" r:id="rId4"/>
    <p:sldId id="259" r:id="rId5"/>
    <p:sldId id="260" r:id="rId6"/>
    <p:sldId id="262" r:id="rId7"/>
    <p:sldId id="284" r:id="rId8"/>
    <p:sldId id="263" r:id="rId9"/>
    <p:sldId id="265" r:id="rId10"/>
    <p:sldId id="285" r:id="rId11"/>
    <p:sldId id="268" r:id="rId12"/>
    <p:sldId id="269" r:id="rId13"/>
    <p:sldId id="271" r:id="rId14"/>
    <p:sldId id="286" r:id="rId15"/>
    <p:sldId id="276" r:id="rId16"/>
    <p:sldId id="277" r:id="rId17"/>
    <p:sldId id="278" r:id="rId18"/>
    <p:sldId id="281" r:id="rId19"/>
    <p:sldId id="282" r:id="rId20"/>
    <p:sldId id="279"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CE7F43-CF77-3738-2772-B1FFE446BADC}" v="36" dt="2025-11-16T15:50:05.675"/>
    <p1510:client id="{BE225453-1C70-DCEF-4BA2-2D32ABB32A60}" v="569" dt="2025-11-16T17:05:27.305"/>
    <p1510:client id="{FD514AD2-B960-DAB9-DBE3-B91C8B192C2F}" v="122" dt="2025-11-16T17:21:39.42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D5352A-C4B0-43BB-942D-8DC9776F356D}" type="datetimeFigureOut">
              <a:t>11/16/2025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99C1F1-4140-4E04-8A14-2902985CB980}" type="slidenum">
              <a:t>‹#›</a:t>
            </a:fld>
            <a:endParaRPr lang="en-US"/>
          </a:p>
        </p:txBody>
      </p:sp>
    </p:spTree>
    <p:extLst>
      <p:ext uri="{BB962C8B-B14F-4D97-AF65-F5344CB8AC3E}">
        <p14:creationId xmlns:p14="http://schemas.microsoft.com/office/powerpoint/2010/main" val="4611064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MX" dirty="0"/>
              <a:t>- Un </a:t>
            </a:r>
            <a:r>
              <a:rPr lang="es-MX" dirty="0" err="1"/>
              <a:t>superpíxel</a:t>
            </a:r>
            <a:r>
              <a:rPr lang="es-MX" dirty="0"/>
              <a:t> es una región que agrupa píxeles perceptualmente similares y conectados, y es el resultado de un proceso de </a:t>
            </a:r>
            <a:r>
              <a:rPr lang="es-MX" dirty="0" err="1"/>
              <a:t>sobresegmentación</a:t>
            </a:r>
            <a:r>
              <a:rPr lang="es-MX" dirty="0"/>
              <a:t> de una imagen.</a:t>
            </a:r>
            <a:endParaRPr lang="es-MX" dirty="0">
              <a:ea typeface="Calibri" panose="020F0502020204030204"/>
              <a:cs typeface="Calibri" panose="020F0502020204030204"/>
            </a:endParaRPr>
          </a:p>
          <a:p>
            <a:r>
              <a:rPr lang="es-MX" dirty="0"/>
              <a:t>- Históricamente, los píxeles no son entidades naturales, sino la mera consecuencia de la representación discreta de las imágenes. </a:t>
            </a:r>
            <a:endParaRPr lang="es-MX" dirty="0">
              <a:ea typeface="Calibri" panose="020F0502020204030204"/>
              <a:cs typeface="Calibri" panose="020F0502020204030204"/>
            </a:endParaRPr>
          </a:p>
          <a:p>
            <a:r>
              <a:rPr lang="es-MX" dirty="0"/>
              <a:t>- El objetivo del </a:t>
            </a:r>
            <a:r>
              <a:rPr lang="es-MX" dirty="0" err="1"/>
              <a:t>superpíxel</a:t>
            </a:r>
            <a:r>
              <a:rPr lang="es-MX" dirty="0"/>
              <a:t> es reemplazar la estructura rígida de la cuadrícula de píxeles por entidades visualmente significativas que forman una partición coherente.</a:t>
            </a:r>
            <a:endParaRPr lang="es-MX" dirty="0">
              <a:ea typeface="Calibri"/>
              <a:cs typeface="Calibri"/>
            </a:endParaRPr>
          </a:p>
          <a:p>
            <a:r>
              <a:rPr lang="es-MX" dirty="0"/>
              <a:t>- Los </a:t>
            </a:r>
            <a:r>
              <a:rPr lang="es-MX" dirty="0" err="1"/>
              <a:t>superpíxeles</a:t>
            </a:r>
            <a:r>
              <a:rPr lang="es-MX" dirty="0"/>
              <a:t> se definen como una sobre segmentación no supervisada de una imagen en varias subregiones semánticas que poseen características similares.</a:t>
            </a:r>
            <a:endParaRPr lang="es-MX" dirty="0">
              <a:ea typeface="Calibri"/>
              <a:cs typeface="Calibri"/>
            </a:endParaRPr>
          </a:p>
          <a:p>
            <a:br>
              <a:rPr lang="en-US" dirty="0"/>
            </a:br>
            <a:endParaRPr lang="es-MX">
              <a:ea typeface="Calibri"/>
              <a:cs typeface="Calibri"/>
            </a:endParaRPr>
          </a:p>
        </p:txBody>
      </p:sp>
      <p:sp>
        <p:nvSpPr>
          <p:cNvPr id="4" name="Slide Number Placeholder 3"/>
          <p:cNvSpPr>
            <a:spLocks noGrp="1"/>
          </p:cNvSpPr>
          <p:nvPr>
            <p:ph type="sldNum" sz="quarter" idx="5"/>
          </p:nvPr>
        </p:nvSpPr>
        <p:spPr/>
        <p:txBody>
          <a:bodyPr/>
          <a:lstStyle/>
          <a:p>
            <a:fld id="{8A99C1F1-4140-4E04-8A14-2902985CB980}" type="slidenum">
              <a:t>3</a:t>
            </a:fld>
            <a:endParaRPr lang="en-US"/>
          </a:p>
        </p:txBody>
      </p:sp>
    </p:spTree>
    <p:extLst>
      <p:ext uri="{BB962C8B-B14F-4D97-AF65-F5344CB8AC3E}">
        <p14:creationId xmlns:p14="http://schemas.microsoft.com/office/powerpoint/2010/main" val="4823727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06118A-7547-F64A-AFBE-00D6C08C47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3820BC-4C47-1EA3-82DA-99B97DEBB8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D67008-64F8-3FF0-BD0A-A4FCE0513FCD}"/>
              </a:ext>
            </a:extLst>
          </p:cNvPr>
          <p:cNvSpPr>
            <a:spLocks noGrp="1"/>
          </p:cNvSpPr>
          <p:nvPr>
            <p:ph type="body" idx="1"/>
          </p:nvPr>
        </p:nvSpPr>
        <p:spPr/>
        <p:txBody>
          <a:bodyPr/>
          <a:lstStyle/>
          <a:p>
            <a:r>
              <a:rPr lang="es-MX" dirty="0"/>
              <a:t>- Un </a:t>
            </a:r>
            <a:r>
              <a:rPr lang="es-MX" dirty="0" err="1"/>
              <a:t>superpíxel</a:t>
            </a:r>
            <a:r>
              <a:rPr lang="es-MX" dirty="0"/>
              <a:t> es una región que agrupa píxeles perceptualmente similares y conectados, y es el resultado de un proceso de </a:t>
            </a:r>
            <a:r>
              <a:rPr lang="es-MX" dirty="0" err="1"/>
              <a:t>sobresegmentación</a:t>
            </a:r>
            <a:r>
              <a:rPr lang="es-MX" dirty="0"/>
              <a:t> de una imagen.</a:t>
            </a:r>
            <a:endParaRPr lang="es-MX" dirty="0">
              <a:ea typeface="Calibri" panose="020F0502020204030204"/>
              <a:cs typeface="Calibri" panose="020F0502020204030204"/>
            </a:endParaRPr>
          </a:p>
          <a:p>
            <a:r>
              <a:rPr lang="es-MX" dirty="0"/>
              <a:t>- Históricamente, los píxeles no son entidades naturales, sino la mera consecuencia de la representación discreta de las imágenes. </a:t>
            </a:r>
            <a:endParaRPr lang="es-MX" dirty="0">
              <a:ea typeface="Calibri" panose="020F0502020204030204"/>
              <a:cs typeface="Calibri" panose="020F0502020204030204"/>
            </a:endParaRPr>
          </a:p>
          <a:p>
            <a:r>
              <a:rPr lang="es-MX" dirty="0"/>
              <a:t>- El objetivo del </a:t>
            </a:r>
            <a:r>
              <a:rPr lang="es-MX" dirty="0" err="1"/>
              <a:t>superpíxel</a:t>
            </a:r>
            <a:r>
              <a:rPr lang="es-MX" dirty="0"/>
              <a:t> es reemplazar la estructura rígida de la cuadrícula de píxeles por entidades visualmente significativas que forman una partición coherente.</a:t>
            </a:r>
            <a:endParaRPr lang="es-MX" dirty="0">
              <a:ea typeface="Calibri"/>
              <a:cs typeface="Calibri"/>
            </a:endParaRPr>
          </a:p>
          <a:p>
            <a:r>
              <a:rPr lang="es-MX" dirty="0"/>
              <a:t>- Los </a:t>
            </a:r>
            <a:r>
              <a:rPr lang="es-MX" dirty="0" err="1"/>
              <a:t>superpíxeles</a:t>
            </a:r>
            <a:r>
              <a:rPr lang="es-MX" dirty="0"/>
              <a:t> se definen como una sobre segmentación no supervisada de una imagen en varias subregiones semánticas que poseen características similares.</a:t>
            </a:r>
            <a:endParaRPr lang="es-MX" dirty="0">
              <a:ea typeface="Calibri"/>
              <a:cs typeface="Calibri"/>
            </a:endParaRPr>
          </a:p>
          <a:p>
            <a:br>
              <a:rPr lang="en-US" dirty="0"/>
            </a:br>
            <a:endParaRPr lang="es-MX">
              <a:ea typeface="Calibri"/>
              <a:cs typeface="Calibri"/>
            </a:endParaRPr>
          </a:p>
        </p:txBody>
      </p:sp>
      <p:sp>
        <p:nvSpPr>
          <p:cNvPr id="4" name="Slide Number Placeholder 3">
            <a:extLst>
              <a:ext uri="{FF2B5EF4-FFF2-40B4-BE49-F238E27FC236}">
                <a16:creationId xmlns:a16="http://schemas.microsoft.com/office/drawing/2014/main" id="{991A055F-6971-0713-7F00-8914050116E3}"/>
              </a:ext>
            </a:extLst>
          </p:cNvPr>
          <p:cNvSpPr>
            <a:spLocks noGrp="1"/>
          </p:cNvSpPr>
          <p:nvPr>
            <p:ph type="sldNum" sz="quarter" idx="5"/>
          </p:nvPr>
        </p:nvSpPr>
        <p:spPr/>
        <p:txBody>
          <a:bodyPr/>
          <a:lstStyle/>
          <a:p>
            <a:fld id="{8A99C1F1-4140-4E04-8A14-2902985CB980}" type="slidenum">
              <a:t>4</a:t>
            </a:fld>
            <a:endParaRPr lang="en-US"/>
          </a:p>
        </p:txBody>
      </p:sp>
    </p:spTree>
    <p:extLst>
      <p:ext uri="{BB962C8B-B14F-4D97-AF65-F5344CB8AC3E}">
        <p14:creationId xmlns:p14="http://schemas.microsoft.com/office/powerpoint/2010/main" val="18987022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3B3EB-9926-5B06-8483-1CA16582D9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8E5E69-573E-E81A-D035-06782BD286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1D7DFE-3A30-0704-72CB-7C3F7343056F}"/>
              </a:ext>
            </a:extLst>
          </p:cNvPr>
          <p:cNvSpPr>
            <a:spLocks noGrp="1"/>
          </p:cNvSpPr>
          <p:nvPr>
            <p:ph type="body" idx="1"/>
          </p:nvPr>
        </p:nvSpPr>
        <p:spPr/>
        <p:txBody>
          <a:bodyPr/>
          <a:lstStyle/>
          <a:p>
            <a:r>
              <a:rPr lang="es-MX"/>
              <a:t>Los </a:t>
            </a:r>
            <a:r>
              <a:rPr lang="es-MX" err="1"/>
              <a:t>superpíxeles</a:t>
            </a:r>
            <a:r>
              <a:rPr lang="es-MX"/>
              <a:t> actúan como una primitiva (unidad básica) que reduce drásticamente la complejidad computacional de las tareas de procesamiento de imágenes posteriores.</a:t>
            </a:r>
            <a:endParaRPr lang="en-US"/>
          </a:p>
          <a:p>
            <a:r>
              <a:rPr lang="es-MX"/>
              <a:t>Los principales beneficios incluyen:</a:t>
            </a:r>
          </a:p>
          <a:p>
            <a:r>
              <a:rPr lang="es-MX"/>
              <a:t>1. Reducción de la Carga de Trabajo: Reemplazan potencialmente millones de píxeles por miles o cientos de superpíxeles. Esto hace que la optimización sea viable, ya que trabajar a nivel de píxel puede ser intratable debido al alto número de elementos, incluso en resoluciones moderadas.</a:t>
            </a:r>
          </a:p>
          <a:p>
            <a:r>
              <a:rPr lang="es-MX"/>
              <a:t>2. Mejora del Rendimiento y Robustez: Las características se pueden calcular en regiones más significativas, en lugar de en píxeles individuales. Esto ayuda a capturar redundancia de imagen y ofrece un soporte espacial más robusto para la extracción de características.</a:t>
            </a:r>
          </a:p>
          <a:p>
            <a:r>
              <a:rPr lang="es-MX" dirty="0"/>
              <a:t>3. Coherencia Visual: Al agrupar píxeles que pertenecen perceptualmente a la misma entidad, proporcionan una representación de imagen más concisa y coherente con la cognición visual humana</a:t>
            </a:r>
            <a:endParaRPr lang="es-MX" dirty="0">
              <a:ea typeface="Calibri"/>
              <a:cs typeface="Calibri"/>
            </a:endParaRPr>
          </a:p>
        </p:txBody>
      </p:sp>
      <p:sp>
        <p:nvSpPr>
          <p:cNvPr id="4" name="Slide Number Placeholder 3">
            <a:extLst>
              <a:ext uri="{FF2B5EF4-FFF2-40B4-BE49-F238E27FC236}">
                <a16:creationId xmlns:a16="http://schemas.microsoft.com/office/drawing/2014/main" id="{7C5BA46C-E782-E5A0-8597-DC159C3664CC}"/>
              </a:ext>
            </a:extLst>
          </p:cNvPr>
          <p:cNvSpPr>
            <a:spLocks noGrp="1"/>
          </p:cNvSpPr>
          <p:nvPr>
            <p:ph type="sldNum" sz="quarter" idx="5"/>
          </p:nvPr>
        </p:nvSpPr>
        <p:spPr/>
        <p:txBody>
          <a:bodyPr/>
          <a:lstStyle/>
          <a:p>
            <a:fld id="{8A99C1F1-4140-4E04-8A14-2902985CB980}" type="slidenum">
              <a:t>6</a:t>
            </a:fld>
            <a:endParaRPr lang="en-US"/>
          </a:p>
        </p:txBody>
      </p:sp>
    </p:spTree>
    <p:extLst>
      <p:ext uri="{BB962C8B-B14F-4D97-AF65-F5344CB8AC3E}">
        <p14:creationId xmlns:p14="http://schemas.microsoft.com/office/powerpoint/2010/main" val="30418258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3C98B-FDE6-C56F-4A6C-D99CB30622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0019CF-E14D-8AB4-CDFA-4A4155993B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3DE0BF-FF74-1113-5755-7C00C10FD2D9}"/>
              </a:ext>
            </a:extLst>
          </p:cNvPr>
          <p:cNvSpPr>
            <a:spLocks noGrp="1"/>
          </p:cNvSpPr>
          <p:nvPr>
            <p:ph type="body" idx="1"/>
          </p:nvPr>
        </p:nvSpPr>
        <p:spPr/>
        <p:txBody>
          <a:bodyPr/>
          <a:lstStyle/>
          <a:p>
            <a:r>
              <a:rPr lang="es-MX" dirty="0"/>
              <a:t>Los algoritmos de </a:t>
            </a:r>
            <a:r>
              <a:rPr lang="es-MX" dirty="0" err="1"/>
              <a:t>superpíxeles</a:t>
            </a:r>
            <a:r>
              <a:rPr lang="es-MX" dirty="0"/>
              <a:t> generalmente se basan en un proceso de dos pasos: inicialización y asignación/refinamiento.</a:t>
            </a:r>
            <a:endParaRPr lang="en-US" dirty="0"/>
          </a:p>
          <a:p>
            <a:r>
              <a:rPr lang="es-MX" dirty="0"/>
              <a:t>1. Inicialización: Se definen semillas o se establece una partición inicial. Por ejemplo, en algoritmos como SLIC, los centros de clúster iniciales mi se obtienen muestreando la imagen en una cuadrícula regular espaciada S unidades aparte. Estos centros se pueden mover a la posición de gradiente más baja en un vecindario 3×3 para evitar el ruido o las fronteras ruidosas.</a:t>
            </a:r>
            <a:endParaRPr lang="es-MX" dirty="0">
              <a:ea typeface="Calibri"/>
              <a:cs typeface="Calibri"/>
            </a:endParaRPr>
          </a:p>
          <a:p>
            <a:r>
              <a:rPr lang="es-MX" dirty="0"/>
              <a:t>2. Asignación/Refinamiento: Los píxeles son asignados al </a:t>
            </a:r>
            <a:r>
              <a:rPr lang="es-MX" dirty="0" err="1"/>
              <a:t>superpíxel</a:t>
            </a:r>
            <a:r>
              <a:rPr lang="es-MX" dirty="0"/>
              <a:t> más cercano o más similar. En métodos como SLIC, esta asignación se limita a una región proporcional al tamaño esperado del </a:t>
            </a:r>
            <a:r>
              <a:rPr lang="es-MX" dirty="0" err="1"/>
              <a:t>superpíxel</a:t>
            </a:r>
            <a:r>
              <a:rPr lang="es-MX" dirty="0"/>
              <a:t> (por ejemplo, una región 2S×2S) para reducir drásticamente la complejidad computacional a ser lineal en el número de píxeles N. Este paso se repite iterativamente (como en los métodos de k-</a:t>
            </a:r>
            <a:r>
              <a:rPr lang="es-MX" dirty="0" err="1"/>
              <a:t>means</a:t>
            </a:r>
            <a:r>
              <a:rPr lang="es-MX" dirty="0"/>
              <a:t> o </a:t>
            </a:r>
            <a:r>
              <a:rPr lang="es-MX" dirty="0" err="1"/>
              <a:t>hill-climbing</a:t>
            </a:r>
            <a:r>
              <a:rPr lang="es-MX" dirty="0"/>
              <a:t> como SEEDS) hasta que los centros de los clústeres convergen o se cumple un umbral de error.</a:t>
            </a:r>
            <a:endParaRPr lang="es-MX" dirty="0">
              <a:ea typeface="Calibri"/>
              <a:cs typeface="Calibri"/>
            </a:endParaRPr>
          </a:p>
          <a:p>
            <a:r>
              <a:rPr lang="es-MX" dirty="0"/>
              <a:t>En el caso de SLIC, el método usa un vector de 5 dimensiones que combina la información de color (por ejemplo, </a:t>
            </a:r>
            <a:r>
              <a:rPr lang="es-MX" dirty="0" err="1"/>
              <a:t>r,g,b</a:t>
            </a:r>
            <a:r>
              <a:rPr lang="es-MX" dirty="0"/>
              <a:t>) y las coordenadas espaciales (</a:t>
            </a:r>
            <a:r>
              <a:rPr lang="es-MX" dirty="0" err="1"/>
              <a:t>x,y</a:t>
            </a:r>
            <a:r>
              <a:rPr lang="es-MX" dirty="0"/>
              <a:t>). Se utiliza una medida de distancia ponderada que combina la proximidad de color y espacial, permitiendo controlar la compacidad</a:t>
            </a:r>
            <a:endParaRPr lang="es-MX" dirty="0">
              <a:ea typeface="Calibri"/>
              <a:cs typeface="Calibri"/>
            </a:endParaRPr>
          </a:p>
        </p:txBody>
      </p:sp>
      <p:sp>
        <p:nvSpPr>
          <p:cNvPr id="4" name="Slide Number Placeholder 3">
            <a:extLst>
              <a:ext uri="{FF2B5EF4-FFF2-40B4-BE49-F238E27FC236}">
                <a16:creationId xmlns:a16="http://schemas.microsoft.com/office/drawing/2014/main" id="{0A6B35A6-CD33-215B-4358-AF9B251ED73C}"/>
              </a:ext>
            </a:extLst>
          </p:cNvPr>
          <p:cNvSpPr>
            <a:spLocks noGrp="1"/>
          </p:cNvSpPr>
          <p:nvPr>
            <p:ph type="sldNum" sz="quarter" idx="5"/>
          </p:nvPr>
        </p:nvSpPr>
        <p:spPr/>
        <p:txBody>
          <a:bodyPr/>
          <a:lstStyle/>
          <a:p>
            <a:fld id="{8A99C1F1-4140-4E04-8A14-2902985CB980}" type="slidenum">
              <a:t>8</a:t>
            </a:fld>
            <a:endParaRPr lang="en-US"/>
          </a:p>
        </p:txBody>
      </p:sp>
    </p:spTree>
    <p:extLst>
      <p:ext uri="{BB962C8B-B14F-4D97-AF65-F5344CB8AC3E}">
        <p14:creationId xmlns:p14="http://schemas.microsoft.com/office/powerpoint/2010/main" val="8023324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0390F-D91E-ECE2-B5A1-459D286238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1D5B-D4A5-C922-3DCD-D74CFA1346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46079B-57E6-6BAF-D22A-6F3CECED0659}"/>
              </a:ext>
            </a:extLst>
          </p:cNvPr>
          <p:cNvSpPr>
            <a:spLocks noGrp="1"/>
          </p:cNvSpPr>
          <p:nvPr>
            <p:ph type="body" idx="1"/>
          </p:nvPr>
        </p:nvSpPr>
        <p:spPr/>
        <p:txBody>
          <a:bodyPr/>
          <a:lstStyle/>
          <a:p>
            <a:r>
              <a:rPr lang="es-MX" dirty="0"/>
              <a:t>Existe un acuerdo general en la literatura sobre las propiedades ideales de los </a:t>
            </a:r>
            <a:r>
              <a:rPr lang="es-MX" dirty="0" err="1"/>
              <a:t>superpíxeles</a:t>
            </a:r>
            <a:r>
              <a:rPr lang="es-MX" dirty="0"/>
              <a:t>, aunque a menudo son objetivos conflictivos</a:t>
            </a:r>
          </a:p>
          <a:p>
            <a:r>
              <a:rPr lang="es-MX" dirty="0"/>
              <a:t> </a:t>
            </a:r>
            <a:endParaRPr lang="es-MX" dirty="0">
              <a:ea typeface="Calibri"/>
              <a:cs typeface="Calibri"/>
            </a:endParaRPr>
          </a:p>
          <a:p>
            <a:r>
              <a:rPr lang="es-MX" dirty="0"/>
              <a:t>Adherencia a los límites (</a:t>
            </a:r>
            <a:r>
              <a:rPr lang="es-MX" err="1"/>
              <a:t>Boundary</a:t>
            </a:r>
            <a:r>
              <a:rPr lang="es-MX" dirty="0"/>
              <a:t> </a:t>
            </a:r>
            <a:r>
              <a:rPr lang="es-MX" err="1"/>
              <a:t>Adherence</a:t>
            </a:r>
            <a:r>
              <a:rPr lang="es-MX"/>
              <a:t>): Los límites de los </a:t>
            </a:r>
            <a:r>
              <a:rPr lang="es-MX" err="1"/>
              <a:t>superpíxeles</a:t>
            </a:r>
            <a:r>
              <a:rPr lang="es-MX"/>
              <a:t> deben coincidir bien con los límites naturales de los objetos en la imagen.</a:t>
            </a:r>
            <a:endParaRPr lang="es-MX">
              <a:ea typeface="Calibri"/>
              <a:cs typeface="Calibri"/>
            </a:endParaRPr>
          </a:p>
          <a:p>
            <a:r>
              <a:rPr lang="es-MX"/>
              <a:t>Homogeneidad de color/rasgos: Los píxeles dentro de un </a:t>
            </a:r>
            <a:r>
              <a:rPr lang="es-MX" err="1"/>
              <a:t>superpíxel</a:t>
            </a:r>
            <a:r>
              <a:rPr lang="es-MX" dirty="0"/>
              <a:t> dado deben presentar colores o niveles de gris similares (coherentes y locales).</a:t>
            </a:r>
            <a:endParaRPr lang="es-MX" dirty="0">
              <a:ea typeface="Calibri"/>
              <a:cs typeface="Calibri"/>
            </a:endParaRPr>
          </a:p>
          <a:p>
            <a:r>
              <a:rPr lang="es-MX" dirty="0"/>
              <a:t>Compacidad y Regularidad: En ausencia de límites de imagen fuertes, los </a:t>
            </a:r>
            <a:r>
              <a:rPr lang="es-MX" dirty="0" err="1"/>
              <a:t>superpíxeles</a:t>
            </a:r>
            <a:r>
              <a:rPr lang="es-MX" dirty="0"/>
              <a:t> deben tener una forma regular y un tamaño uniforme (como cuadrados o circulares). Esto minimiza la </a:t>
            </a:r>
            <a:r>
              <a:rPr lang="es-MX" dirty="0" err="1"/>
              <a:t>sobresegmentación</a:t>
            </a:r>
            <a:r>
              <a:rPr lang="es-MX" dirty="0"/>
              <a:t>.</a:t>
            </a:r>
            <a:endParaRPr lang="es-MX" dirty="0">
              <a:ea typeface="Calibri"/>
              <a:cs typeface="Calibri"/>
            </a:endParaRPr>
          </a:p>
          <a:p>
            <a:r>
              <a:rPr lang="es-MX" dirty="0"/>
              <a:t>Conectividad: Cada </a:t>
            </a:r>
            <a:r>
              <a:rPr lang="es-MX" dirty="0" err="1"/>
              <a:t>superpíxel</a:t>
            </a:r>
            <a:r>
              <a:rPr lang="es-MX" dirty="0"/>
              <a:t> debe representar un conjunto de píxeles espacialmente conectados. Esto a menudo se garantiza por el diseño del algoritmo o mediante un </a:t>
            </a:r>
            <a:r>
              <a:rPr lang="es-MX" dirty="0" err="1"/>
              <a:t>post-procesamiento</a:t>
            </a:r>
            <a:r>
              <a:rPr lang="es-MX" dirty="0"/>
              <a:t>.</a:t>
            </a:r>
            <a:endParaRPr lang="es-MX" dirty="0">
              <a:ea typeface="Calibri"/>
              <a:cs typeface="Calibri"/>
            </a:endParaRPr>
          </a:p>
          <a:p>
            <a:r>
              <a:rPr lang="es-MX"/>
              <a:t>Eficiencia Computacional: Deben ser rápidos de calcular, idealmente con complejidad lineal O(N), para que su uso como preprocesamiento no anule los beneficios de velocidad.</a:t>
            </a:r>
          </a:p>
          <a:p>
            <a:r>
              <a:rPr lang="es-MX" dirty="0"/>
              <a:t>Control de Cantidad: El usuario debe poder especificar el número deseado de </a:t>
            </a:r>
            <a:r>
              <a:rPr lang="es-MX" dirty="0" err="1"/>
              <a:t>superpíxeles</a:t>
            </a:r>
            <a:r>
              <a:rPr lang="es-MX" dirty="0"/>
              <a:t> (K) para adaptar la segmentación a la tarea.</a:t>
            </a:r>
            <a:endParaRPr lang="es-MX" dirty="0">
              <a:ea typeface="Calibri"/>
              <a:cs typeface="Calibri"/>
            </a:endParaRPr>
          </a:p>
        </p:txBody>
      </p:sp>
      <p:sp>
        <p:nvSpPr>
          <p:cNvPr id="4" name="Slide Number Placeholder 3">
            <a:extLst>
              <a:ext uri="{FF2B5EF4-FFF2-40B4-BE49-F238E27FC236}">
                <a16:creationId xmlns:a16="http://schemas.microsoft.com/office/drawing/2014/main" id="{66F56095-AB7C-6F7C-7508-1D8B9C346F1E}"/>
              </a:ext>
            </a:extLst>
          </p:cNvPr>
          <p:cNvSpPr>
            <a:spLocks noGrp="1"/>
          </p:cNvSpPr>
          <p:nvPr>
            <p:ph type="sldNum" sz="quarter" idx="5"/>
          </p:nvPr>
        </p:nvSpPr>
        <p:spPr/>
        <p:txBody>
          <a:bodyPr/>
          <a:lstStyle/>
          <a:p>
            <a:fld id="{8A99C1F1-4140-4E04-8A14-2902985CB980}" type="slidenum">
              <a:t>9</a:t>
            </a:fld>
            <a:endParaRPr lang="en-US"/>
          </a:p>
        </p:txBody>
      </p:sp>
    </p:spTree>
    <p:extLst>
      <p:ext uri="{BB962C8B-B14F-4D97-AF65-F5344CB8AC3E}">
        <p14:creationId xmlns:p14="http://schemas.microsoft.com/office/powerpoint/2010/main" val="39659681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25C64-1DF4-5060-84D4-0ABE03918F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66085B-D171-21A1-BB48-DCD5C355D9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607587-9C75-B93B-C2EC-1E38519F4CC6}"/>
              </a:ext>
            </a:extLst>
          </p:cNvPr>
          <p:cNvSpPr>
            <a:spLocks noGrp="1"/>
          </p:cNvSpPr>
          <p:nvPr>
            <p:ph type="body" idx="1"/>
          </p:nvPr>
        </p:nvSpPr>
        <p:spPr/>
        <p:txBody>
          <a:bodyPr/>
          <a:lstStyle/>
          <a:p>
            <a:r>
              <a:rPr lang="es-MX" dirty="0"/>
              <a:t>Clasificación general</a:t>
            </a:r>
            <a:endParaRPr lang="en-US" dirty="0"/>
          </a:p>
          <a:p>
            <a:r>
              <a:rPr lang="es-MX" dirty="0"/>
              <a:t>Los algoritmos de </a:t>
            </a:r>
            <a:r>
              <a:rPr lang="es-MX" dirty="0" err="1"/>
              <a:t>superpíxeles</a:t>
            </a:r>
            <a:r>
              <a:rPr lang="es-MX" dirty="0"/>
              <a:t> se pueden clasificar ampliamente según su enfoque principal:</a:t>
            </a:r>
          </a:p>
          <a:p>
            <a:r>
              <a:rPr lang="es-MX" dirty="0"/>
              <a:t>1. Algoritmos Basados en </a:t>
            </a:r>
            <a:r>
              <a:rPr lang="es-MX" dirty="0" err="1"/>
              <a:t>Clustering</a:t>
            </a:r>
            <a:r>
              <a:rPr lang="es-MX" dirty="0"/>
              <a:t>: Adaptan métodos de agrupamiento como k-</a:t>
            </a:r>
            <a:r>
              <a:rPr lang="es-MX" dirty="0" err="1"/>
              <a:t>means</a:t>
            </a:r>
            <a:r>
              <a:rPr lang="es-MX" dirty="0"/>
              <a:t> (por ejemplo, SLIC). Estos inician con una agrupación aproximada de píxeles y la refinan iterativamente. Se centran en la proximidad de color y espacial.</a:t>
            </a:r>
          </a:p>
          <a:p>
            <a:r>
              <a:rPr lang="es-MX" dirty="0"/>
              <a:t>2. Algoritmos Basados en Grafos (</a:t>
            </a:r>
            <a:r>
              <a:rPr lang="es-MX" dirty="0" err="1"/>
              <a:t>Graph-based</a:t>
            </a:r>
            <a:r>
              <a:rPr lang="es-MX" dirty="0"/>
              <a:t>): Tratan la imagen como un grafo donde los píxeles son nodos y los pesos de las aristas son proporcionales a la similitud entre píxeles vecinos. Los </a:t>
            </a:r>
            <a:r>
              <a:rPr lang="es-MX" dirty="0" err="1"/>
              <a:t>superpíxeles</a:t>
            </a:r>
            <a:r>
              <a:rPr lang="es-MX" dirty="0"/>
              <a:t> se crean minimizando una función de costo sobre el grafo. Ejemplos incluyen ERS (</a:t>
            </a:r>
            <a:r>
              <a:rPr lang="es-MX" dirty="0" err="1"/>
              <a:t>Entropy</a:t>
            </a:r>
            <a:r>
              <a:rPr lang="es-MX" dirty="0"/>
              <a:t> </a:t>
            </a:r>
            <a:r>
              <a:rPr lang="es-MX" dirty="0" err="1"/>
              <a:t>Rate</a:t>
            </a:r>
            <a:r>
              <a:rPr lang="es-MX" dirty="0"/>
              <a:t> </a:t>
            </a:r>
            <a:r>
              <a:rPr lang="es-MX" dirty="0" err="1"/>
              <a:t>Superpixels</a:t>
            </a:r>
            <a:r>
              <a:rPr lang="es-MX" dirty="0"/>
              <a:t>) y </a:t>
            </a:r>
            <a:r>
              <a:rPr lang="es-MX" dirty="0" err="1"/>
              <a:t>Normalized</a:t>
            </a:r>
            <a:r>
              <a:rPr lang="es-MX" dirty="0"/>
              <a:t> </a:t>
            </a:r>
            <a:r>
              <a:rPr lang="es-MX" dirty="0" err="1"/>
              <a:t>Cuts</a:t>
            </a:r>
            <a:r>
              <a:rPr lang="es-MX" dirty="0"/>
              <a:t> (NC).</a:t>
            </a:r>
          </a:p>
          <a:p>
            <a:r>
              <a:rPr lang="es-MX" dirty="0"/>
              <a:t>3. Algoritmos Basados en Flujos Geométricos / Evolución de Contorno (</a:t>
            </a:r>
            <a:r>
              <a:rPr lang="es-MX" dirty="0" err="1"/>
              <a:t>Contour</a:t>
            </a:r>
            <a:r>
              <a:rPr lang="es-MX" dirty="0"/>
              <a:t> </a:t>
            </a:r>
            <a:r>
              <a:rPr lang="es-MX" dirty="0" err="1"/>
              <a:t>Evolution</a:t>
            </a:r>
            <a:r>
              <a:rPr lang="es-MX" dirty="0"/>
              <a:t> / </a:t>
            </a:r>
            <a:r>
              <a:rPr lang="es-MX" dirty="0" err="1"/>
              <a:t>Geometric</a:t>
            </a:r>
            <a:r>
              <a:rPr lang="es-MX" dirty="0"/>
              <a:t> </a:t>
            </a:r>
            <a:r>
              <a:rPr lang="es-MX" dirty="0" err="1"/>
              <a:t>Flows</a:t>
            </a:r>
            <a:r>
              <a:rPr lang="es-MX" dirty="0"/>
              <a:t>): Representan los </a:t>
            </a:r>
            <a:r>
              <a:rPr lang="es-MX" dirty="0" err="1"/>
              <a:t>superpíxeles</a:t>
            </a:r>
            <a:r>
              <a:rPr lang="es-MX" dirty="0"/>
              <a:t> como contornos que evolucionan a partir de semillas iniciales, utilizando técnicas como flujos geométricos o el método Hill-</a:t>
            </a:r>
            <a:r>
              <a:rPr lang="es-MX" dirty="0" err="1"/>
              <a:t>Climbing</a:t>
            </a:r>
            <a:r>
              <a:rPr lang="es-MX" dirty="0"/>
              <a:t>. </a:t>
            </a:r>
            <a:r>
              <a:rPr lang="es-MX" dirty="0" err="1"/>
              <a:t>TurboPixels</a:t>
            </a:r>
            <a:r>
              <a:rPr lang="es-MX" dirty="0"/>
              <a:t> (TP) y SEEDS son ejemplos de esta categoría.</a:t>
            </a:r>
          </a:p>
          <a:p>
            <a:r>
              <a:rPr lang="es-MX" dirty="0"/>
              <a:t>4. Algoritmos Basados en la Transformada </a:t>
            </a:r>
            <a:r>
              <a:rPr lang="es-MX" dirty="0" err="1"/>
              <a:t>Watershed</a:t>
            </a:r>
            <a:r>
              <a:rPr lang="es-MX" dirty="0"/>
              <a:t> (</a:t>
            </a:r>
            <a:r>
              <a:rPr lang="es-MX" dirty="0" err="1"/>
              <a:t>Watershed-based</a:t>
            </a:r>
            <a:r>
              <a:rPr lang="es-MX" dirty="0"/>
              <a:t>): Utilizan la Transformada </a:t>
            </a:r>
            <a:r>
              <a:rPr lang="es-MX" dirty="0" err="1"/>
              <a:t>Watershed</a:t>
            </a:r>
            <a:r>
              <a:rPr lang="es-MX" dirty="0"/>
              <a:t>, que originalmente da una buena adherencia a los límites cuando se aplica al gradiente de la imagen. Métodos como </a:t>
            </a:r>
            <a:r>
              <a:rPr lang="es-MX" dirty="0" err="1"/>
              <a:t>Waterpixels</a:t>
            </a:r>
            <a:r>
              <a:rPr lang="es-MX" dirty="0"/>
              <a:t> (WP) utilizan un gradiente espacialmente regularizado para equilibrar la regularidad y la adherencia a los </a:t>
            </a:r>
            <a:r>
              <a:rPr lang="es-MX" dirty="0" err="1"/>
              <a:t>límiteslmente</a:t>
            </a:r>
            <a:r>
              <a:rPr lang="es-MX" dirty="0"/>
              <a:t> a la misma entidad, proporcionan una representación de imagen más concisa y coherente con la cognición visual humana</a:t>
            </a:r>
            <a:endParaRPr lang="es-MX" dirty="0">
              <a:ea typeface="Calibri"/>
              <a:cs typeface="Calibri"/>
            </a:endParaRPr>
          </a:p>
        </p:txBody>
      </p:sp>
      <p:sp>
        <p:nvSpPr>
          <p:cNvPr id="4" name="Slide Number Placeholder 3">
            <a:extLst>
              <a:ext uri="{FF2B5EF4-FFF2-40B4-BE49-F238E27FC236}">
                <a16:creationId xmlns:a16="http://schemas.microsoft.com/office/drawing/2014/main" id="{C987807D-D865-2334-8E21-8FF67EEDF8D9}"/>
              </a:ext>
            </a:extLst>
          </p:cNvPr>
          <p:cNvSpPr>
            <a:spLocks noGrp="1"/>
          </p:cNvSpPr>
          <p:nvPr>
            <p:ph type="sldNum" sz="quarter" idx="5"/>
          </p:nvPr>
        </p:nvSpPr>
        <p:spPr/>
        <p:txBody>
          <a:bodyPr/>
          <a:lstStyle/>
          <a:p>
            <a:fld id="{8A99C1F1-4140-4E04-8A14-2902985CB980}" type="slidenum">
              <a:t>11</a:t>
            </a:fld>
            <a:endParaRPr lang="en-US"/>
          </a:p>
        </p:txBody>
      </p:sp>
    </p:spTree>
    <p:extLst>
      <p:ext uri="{BB962C8B-B14F-4D97-AF65-F5344CB8AC3E}">
        <p14:creationId xmlns:p14="http://schemas.microsoft.com/office/powerpoint/2010/main" val="37623397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7B093-7B7E-B109-B83E-39FB3ACB61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6FB5B9-A39D-9AA0-2143-8A0C4AD49D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0AE0AA-4893-4355-61BB-734109588476}"/>
              </a:ext>
            </a:extLst>
          </p:cNvPr>
          <p:cNvSpPr>
            <a:spLocks noGrp="1"/>
          </p:cNvSpPr>
          <p:nvPr>
            <p:ph type="body" idx="1"/>
          </p:nvPr>
        </p:nvSpPr>
        <p:spPr/>
        <p:txBody>
          <a:bodyPr/>
          <a:lstStyle/>
          <a:p>
            <a:r>
              <a:rPr lang="es-MX" dirty="0"/>
              <a:t>Comparativa</a:t>
            </a:r>
            <a:endParaRPr lang="en-US" dirty="0"/>
          </a:p>
          <a:p>
            <a:endParaRPr lang="es-MX" dirty="0">
              <a:ea typeface="Calibri"/>
              <a:cs typeface="Calibri"/>
            </a:endParaRPr>
          </a:p>
          <a:p>
            <a:r>
              <a:rPr lang="es-MX" dirty="0">
                <a:ea typeface="Calibri"/>
                <a:cs typeface="Calibri"/>
              </a:rPr>
              <a:t>SLIC</a:t>
            </a:r>
          </a:p>
          <a:p>
            <a:r>
              <a:rPr lang="es-MX" dirty="0">
                <a:ea typeface="Calibri"/>
                <a:cs typeface="Calibri"/>
              </a:rPr>
              <a:t>Ventajas:</a:t>
            </a:r>
            <a:r>
              <a:rPr lang="es-MX" dirty="0"/>
              <a:t> </a:t>
            </a:r>
            <a:r>
              <a:rPr lang="en-US" dirty="0"/>
              <a:t>Muy </a:t>
            </a:r>
            <a:r>
              <a:rPr lang="en-US" dirty="0" err="1"/>
              <a:t>rápido</a:t>
            </a:r>
            <a:r>
              <a:rPr lang="en-US" dirty="0"/>
              <a:t>, </a:t>
            </a:r>
            <a:r>
              <a:rPr lang="en-US" dirty="0" err="1"/>
              <a:t>eficiente</a:t>
            </a:r>
            <a:r>
              <a:rPr lang="en-US" dirty="0"/>
              <a:t> </a:t>
            </a:r>
            <a:r>
              <a:rPr lang="en-US" dirty="0" err="1"/>
              <a:t>en</a:t>
            </a:r>
            <a:r>
              <a:rPr lang="en-US" dirty="0"/>
              <a:t> memoria, </a:t>
            </a:r>
            <a:r>
              <a:rPr lang="en-US" dirty="0" err="1"/>
              <a:t>fácil</a:t>
            </a:r>
            <a:r>
              <a:rPr lang="en-US" dirty="0"/>
              <a:t> de usar, </a:t>
            </a:r>
            <a:r>
              <a:rPr lang="en-US" dirty="0" err="1"/>
              <a:t>permite</a:t>
            </a:r>
            <a:r>
              <a:rPr lang="en-US" dirty="0"/>
              <a:t> </a:t>
            </a:r>
            <a:r>
              <a:rPr lang="en-US" dirty="0" err="1"/>
              <a:t>controlar</a:t>
            </a:r>
            <a:r>
              <a:rPr lang="en-US" dirty="0"/>
              <a:t> la </a:t>
            </a:r>
            <a:r>
              <a:rPr lang="en-US" dirty="0" err="1"/>
              <a:t>compacidad</a:t>
            </a:r>
            <a:r>
              <a:rPr lang="en-US" dirty="0"/>
              <a:t> y </a:t>
            </a:r>
            <a:r>
              <a:rPr lang="en-US" dirty="0" err="1"/>
              <a:t>el</a:t>
            </a:r>
            <a:r>
              <a:rPr lang="en-US" dirty="0"/>
              <a:t> </a:t>
            </a:r>
            <a:r>
              <a:rPr lang="en-US" dirty="0" err="1"/>
              <a:t>número</a:t>
            </a:r>
            <a:r>
              <a:rPr lang="en-US" dirty="0"/>
              <a:t> de </a:t>
            </a:r>
            <a:r>
              <a:rPr lang="en-US" dirty="0" err="1"/>
              <a:t>superpíxeles</a:t>
            </a:r>
            <a:r>
              <a:rPr lang="en-US" dirty="0"/>
              <a:t>.</a:t>
            </a:r>
            <a:endParaRPr lang="en-US">
              <a:ea typeface="Calibri"/>
              <a:cs typeface="Calibri"/>
            </a:endParaRPr>
          </a:p>
          <a:p>
            <a:r>
              <a:rPr lang="en-US" dirty="0" err="1">
                <a:ea typeface="Calibri"/>
                <a:cs typeface="Calibri"/>
              </a:rPr>
              <a:t>Desventajas</a:t>
            </a:r>
            <a:r>
              <a:rPr lang="en-US" dirty="0">
                <a:ea typeface="Calibri"/>
                <a:cs typeface="Calibri"/>
              </a:rPr>
              <a:t>:</a:t>
            </a:r>
            <a:r>
              <a:rPr lang="en-US" dirty="0"/>
              <a:t> </a:t>
            </a:r>
            <a:r>
              <a:rPr lang="en-US" dirty="0" err="1"/>
              <a:t>Requiere</a:t>
            </a:r>
            <a:r>
              <a:rPr lang="en-US" dirty="0"/>
              <a:t> post-</a:t>
            </a:r>
            <a:r>
              <a:rPr lang="en-US" dirty="0" err="1"/>
              <a:t>procesamiento</a:t>
            </a:r>
            <a:r>
              <a:rPr lang="en-US" dirty="0"/>
              <a:t> para </a:t>
            </a:r>
            <a:r>
              <a:rPr lang="en-US" dirty="0" err="1"/>
              <a:t>garantizar</a:t>
            </a:r>
            <a:r>
              <a:rPr lang="en-US" dirty="0"/>
              <a:t> la </a:t>
            </a:r>
            <a:r>
              <a:rPr lang="en-US" dirty="0" err="1"/>
              <a:t>conectividad</a:t>
            </a:r>
            <a:r>
              <a:rPr lang="en-US" dirty="0"/>
              <a:t>. </a:t>
            </a:r>
            <a:r>
              <a:rPr lang="en-US" dirty="0" err="1"/>
              <a:t>Necesita</a:t>
            </a:r>
            <a:r>
              <a:rPr lang="en-US" dirty="0"/>
              <a:t> </a:t>
            </a:r>
            <a:r>
              <a:rPr lang="en-US" dirty="0" err="1"/>
              <a:t>varias</a:t>
            </a:r>
            <a:r>
              <a:rPr lang="en-US" dirty="0"/>
              <a:t> </a:t>
            </a:r>
            <a:r>
              <a:rPr lang="en-US" dirty="0" err="1"/>
              <a:t>iteraciones</a:t>
            </a:r>
            <a:r>
              <a:rPr lang="en-US" dirty="0"/>
              <a:t> para </a:t>
            </a:r>
            <a:r>
              <a:rPr lang="en-US" dirty="0" err="1"/>
              <a:t>converger</a:t>
            </a:r>
            <a:r>
              <a:rPr lang="en-US" dirty="0"/>
              <a:t>.</a:t>
            </a:r>
            <a:endParaRPr lang="en-US" dirty="0">
              <a:ea typeface="Calibri"/>
              <a:cs typeface="Calibri"/>
            </a:endParaRPr>
          </a:p>
          <a:p>
            <a:r>
              <a:rPr lang="en-US" dirty="0">
                <a:ea typeface="Calibri"/>
                <a:cs typeface="Calibri"/>
              </a:rPr>
              <a:t>SNIC</a:t>
            </a:r>
          </a:p>
          <a:p>
            <a:r>
              <a:rPr lang="en-US" dirty="0" err="1">
                <a:ea typeface="Calibri"/>
                <a:cs typeface="Calibri"/>
              </a:rPr>
              <a:t>Ventajas</a:t>
            </a:r>
            <a:r>
              <a:rPr lang="en-US" dirty="0">
                <a:ea typeface="Calibri"/>
                <a:cs typeface="Calibri"/>
              </a:rPr>
              <a:t>: </a:t>
            </a:r>
            <a:r>
              <a:rPr lang="en-US" dirty="0"/>
              <a:t>No es </a:t>
            </a:r>
            <a:r>
              <a:rPr lang="en-US" dirty="0" err="1"/>
              <a:t>iterativo</a:t>
            </a:r>
            <a:r>
              <a:rPr lang="en-US" dirty="0"/>
              <a:t>, </a:t>
            </a:r>
            <a:r>
              <a:rPr lang="en-US" dirty="0" err="1"/>
              <a:t>garantiza</a:t>
            </a:r>
            <a:r>
              <a:rPr lang="en-US" dirty="0"/>
              <a:t> la </a:t>
            </a:r>
            <a:r>
              <a:rPr lang="en-US" dirty="0" err="1"/>
              <a:t>conectividad</a:t>
            </a:r>
            <a:r>
              <a:rPr lang="en-US" dirty="0"/>
              <a:t> </a:t>
            </a:r>
            <a:r>
              <a:rPr lang="en-US" dirty="0" err="1"/>
              <a:t>desde</a:t>
            </a:r>
            <a:r>
              <a:rPr lang="en-US" dirty="0"/>
              <a:t> </a:t>
            </a:r>
            <a:r>
              <a:rPr lang="en-US" dirty="0" err="1"/>
              <a:t>el</a:t>
            </a:r>
            <a:r>
              <a:rPr lang="en-US" dirty="0"/>
              <a:t> </a:t>
            </a:r>
            <a:r>
              <a:rPr lang="en-US" dirty="0" err="1"/>
              <a:t>inicio</a:t>
            </a:r>
            <a:r>
              <a:rPr lang="en-US" dirty="0"/>
              <a:t>, es </a:t>
            </a:r>
            <a:r>
              <a:rPr lang="en-US" dirty="0" err="1"/>
              <a:t>más</a:t>
            </a:r>
            <a:r>
              <a:rPr lang="en-US" dirty="0"/>
              <a:t> </a:t>
            </a:r>
            <a:r>
              <a:rPr lang="en-US" dirty="0" err="1"/>
              <a:t>rápido</a:t>
            </a:r>
            <a:r>
              <a:rPr lang="en-US" dirty="0"/>
              <a:t> y </a:t>
            </a:r>
            <a:r>
              <a:rPr lang="en-US" dirty="0" err="1"/>
              <a:t>requiere</a:t>
            </a:r>
            <a:r>
              <a:rPr lang="en-US" dirty="0"/>
              <a:t> </a:t>
            </a:r>
            <a:r>
              <a:rPr lang="en-US" dirty="0" err="1"/>
              <a:t>menos</a:t>
            </a:r>
            <a:r>
              <a:rPr lang="en-US" dirty="0"/>
              <a:t> memoria </a:t>
            </a:r>
            <a:r>
              <a:rPr lang="en-US" dirty="0" err="1"/>
              <a:t>que</a:t>
            </a:r>
            <a:r>
              <a:rPr lang="en-US" dirty="0"/>
              <a:t> SLIC.</a:t>
            </a:r>
            <a:endParaRPr lang="en-US" dirty="0">
              <a:ea typeface="Calibri"/>
              <a:cs typeface="Calibri"/>
            </a:endParaRPr>
          </a:p>
          <a:p>
            <a:r>
              <a:rPr lang="en-US" err="1">
                <a:ea typeface="Calibri"/>
                <a:cs typeface="Calibri"/>
              </a:rPr>
              <a:t>Desventajas</a:t>
            </a:r>
            <a:r>
              <a:rPr lang="en-US" dirty="0">
                <a:ea typeface="Calibri"/>
                <a:cs typeface="Calibri"/>
              </a:rPr>
              <a:t>: </a:t>
            </a:r>
            <a:r>
              <a:rPr lang="en-US" dirty="0"/>
              <a:t>La </a:t>
            </a:r>
            <a:r>
              <a:rPr lang="en-US" err="1"/>
              <a:t>compacidad</a:t>
            </a:r>
            <a:r>
              <a:rPr lang="en-US" dirty="0"/>
              <a:t> </a:t>
            </a:r>
            <a:r>
              <a:rPr lang="en-US" err="1"/>
              <a:t>puede</a:t>
            </a:r>
            <a:r>
              <a:rPr lang="en-US" dirty="0"/>
              <a:t> ser </a:t>
            </a:r>
            <a:r>
              <a:rPr lang="en-US" err="1"/>
              <a:t>ligeramente</a:t>
            </a:r>
            <a:r>
              <a:rPr lang="en-US" dirty="0"/>
              <a:t> </a:t>
            </a:r>
            <a:r>
              <a:rPr lang="en-US" err="1"/>
              <a:t>menor</a:t>
            </a:r>
            <a:r>
              <a:rPr lang="en-US" dirty="0"/>
              <a:t> </a:t>
            </a:r>
            <a:r>
              <a:rPr lang="en-US" err="1"/>
              <a:t>que</a:t>
            </a:r>
            <a:r>
              <a:rPr lang="en-US" dirty="0"/>
              <a:t> </a:t>
            </a:r>
            <a:r>
              <a:rPr lang="en-US" err="1"/>
              <a:t>en</a:t>
            </a:r>
            <a:r>
              <a:rPr lang="en-US" dirty="0"/>
              <a:t> SLIC </a:t>
            </a:r>
            <a:r>
              <a:rPr lang="en-US" err="1"/>
              <a:t>en</a:t>
            </a:r>
            <a:r>
              <a:rPr lang="en-US" dirty="0"/>
              <a:t> </a:t>
            </a:r>
            <a:r>
              <a:rPr lang="en-US" err="1"/>
              <a:t>algunas</a:t>
            </a:r>
            <a:r>
              <a:rPr lang="en-US" dirty="0"/>
              <a:t> </a:t>
            </a:r>
            <a:r>
              <a:rPr lang="en-US" err="1"/>
              <a:t>configuraciones</a:t>
            </a:r>
            <a:r>
              <a:rPr lang="en-US" dirty="0"/>
              <a:t>.</a:t>
            </a:r>
          </a:p>
          <a:p>
            <a:r>
              <a:rPr lang="en-US" dirty="0">
                <a:ea typeface="Calibri"/>
                <a:cs typeface="Calibri"/>
              </a:rPr>
              <a:t>ERS</a:t>
            </a:r>
          </a:p>
          <a:p>
            <a:r>
              <a:rPr lang="en-US" dirty="0" err="1"/>
              <a:t>Ventajas</a:t>
            </a:r>
            <a:r>
              <a:rPr lang="en-US" dirty="0"/>
              <a:t>: </a:t>
            </a:r>
            <a:r>
              <a:rPr lang="en-US" dirty="0" err="1"/>
              <a:t>Puede</a:t>
            </a:r>
            <a:r>
              <a:rPr lang="en-US" dirty="0"/>
              <a:t> </a:t>
            </a:r>
            <a:r>
              <a:rPr lang="en-US" dirty="0" err="1"/>
              <a:t>generar</a:t>
            </a:r>
            <a:r>
              <a:rPr lang="en-US" dirty="0"/>
              <a:t> </a:t>
            </a:r>
            <a:r>
              <a:rPr lang="en-US" dirty="0" err="1"/>
              <a:t>el</a:t>
            </a:r>
            <a:r>
              <a:rPr lang="en-US" dirty="0"/>
              <a:t> </a:t>
            </a:r>
            <a:r>
              <a:rPr lang="en-US" dirty="0" err="1"/>
              <a:t>número</a:t>
            </a:r>
            <a:r>
              <a:rPr lang="en-US" dirty="0"/>
              <a:t> </a:t>
            </a:r>
            <a:r>
              <a:rPr lang="en-US" dirty="0" err="1"/>
              <a:t>exacto</a:t>
            </a:r>
            <a:r>
              <a:rPr lang="en-US" dirty="0"/>
              <a:t> de </a:t>
            </a:r>
            <a:r>
              <a:rPr lang="en-US" dirty="0" err="1"/>
              <a:t>superpíxeles</a:t>
            </a:r>
            <a:r>
              <a:rPr lang="en-US" dirty="0"/>
              <a:t> </a:t>
            </a:r>
            <a:r>
              <a:rPr lang="en-US" dirty="0" err="1"/>
              <a:t>deseado</a:t>
            </a:r>
            <a:r>
              <a:rPr lang="en-US" dirty="0"/>
              <a:t>. </a:t>
            </a:r>
            <a:r>
              <a:rPr lang="en-US" dirty="0" err="1"/>
              <a:t>Conectividad</a:t>
            </a:r>
            <a:r>
              <a:rPr lang="en-US" dirty="0"/>
              <a:t> </a:t>
            </a:r>
            <a:r>
              <a:rPr lang="en-US" dirty="0" err="1"/>
              <a:t>garantizada</a:t>
            </a:r>
            <a:r>
              <a:rPr lang="en-US" dirty="0"/>
              <a:t>.</a:t>
            </a:r>
            <a:endParaRPr lang="en-US" dirty="0">
              <a:ea typeface="Calibri"/>
              <a:cs typeface="Calibri"/>
            </a:endParaRPr>
          </a:p>
          <a:p>
            <a:r>
              <a:rPr lang="en-US" dirty="0" err="1">
                <a:ea typeface="Calibri"/>
                <a:cs typeface="Calibri"/>
              </a:rPr>
              <a:t>Desventajas</a:t>
            </a:r>
            <a:r>
              <a:rPr lang="en-US" dirty="0">
                <a:ea typeface="Calibri"/>
                <a:cs typeface="Calibri"/>
              </a:rPr>
              <a:t>: </a:t>
            </a:r>
            <a:r>
              <a:rPr lang="en-US" dirty="0" err="1"/>
              <a:t>Generalmente</a:t>
            </a:r>
            <a:r>
              <a:rPr lang="en-US" dirty="0"/>
              <a:t> </a:t>
            </a:r>
            <a:r>
              <a:rPr lang="en-US" dirty="0" err="1"/>
              <a:t>más</a:t>
            </a:r>
            <a:r>
              <a:rPr lang="en-US" dirty="0"/>
              <a:t> lento </a:t>
            </a:r>
            <a:r>
              <a:rPr lang="en-US" dirty="0" err="1"/>
              <a:t>que</a:t>
            </a:r>
            <a:r>
              <a:rPr lang="en-US" dirty="0"/>
              <a:t> </a:t>
            </a:r>
            <a:r>
              <a:rPr lang="en-US" dirty="0" err="1"/>
              <a:t>los</a:t>
            </a:r>
            <a:r>
              <a:rPr lang="en-US" dirty="0"/>
              <a:t> </a:t>
            </a:r>
            <a:r>
              <a:rPr lang="en-US" dirty="0" err="1"/>
              <a:t>métodos</a:t>
            </a:r>
            <a:r>
              <a:rPr lang="en-US" dirty="0"/>
              <a:t> de Clustering/</a:t>
            </a:r>
            <a:r>
              <a:rPr lang="en-US" dirty="0" err="1"/>
              <a:t>Evolución</a:t>
            </a:r>
            <a:r>
              <a:rPr lang="en-US" dirty="0"/>
              <a:t> de Contorno. </a:t>
            </a:r>
            <a:r>
              <a:rPr lang="en-US" dirty="0" err="1"/>
              <a:t>Puede</a:t>
            </a:r>
            <a:r>
              <a:rPr lang="en-US" dirty="0"/>
              <a:t> </a:t>
            </a:r>
            <a:r>
              <a:rPr lang="en-US" dirty="0" err="1"/>
              <a:t>tener</a:t>
            </a:r>
            <a:r>
              <a:rPr lang="en-US" dirty="0"/>
              <a:t> baja </a:t>
            </a:r>
            <a:r>
              <a:rPr lang="en-US" dirty="0" err="1"/>
              <a:t>compacidad</a:t>
            </a:r>
            <a:r>
              <a:rPr lang="en-US" dirty="0"/>
              <a:t>.</a:t>
            </a:r>
            <a:endParaRPr lang="en-US" dirty="0">
              <a:ea typeface="Calibri"/>
              <a:cs typeface="Calibri"/>
            </a:endParaRPr>
          </a:p>
          <a:p>
            <a:r>
              <a:rPr lang="en-US" dirty="0">
                <a:ea typeface="Calibri"/>
                <a:cs typeface="Calibri"/>
              </a:rPr>
              <a:t>Turbo Pixels</a:t>
            </a:r>
          </a:p>
          <a:p>
            <a:r>
              <a:rPr lang="en-US" dirty="0" err="1">
                <a:ea typeface="Calibri"/>
                <a:cs typeface="Calibri"/>
              </a:rPr>
              <a:t>Ventajas</a:t>
            </a:r>
            <a:r>
              <a:rPr lang="en-US" dirty="0">
                <a:ea typeface="Calibri"/>
                <a:cs typeface="Calibri"/>
              </a:rPr>
              <a:t>: </a:t>
            </a:r>
            <a:r>
              <a:rPr lang="en-US" dirty="0"/>
              <a:t>Produce </a:t>
            </a:r>
            <a:r>
              <a:rPr lang="en-US" dirty="0" err="1"/>
              <a:t>superpíxeles</a:t>
            </a:r>
            <a:r>
              <a:rPr lang="en-US" dirty="0"/>
              <a:t> </a:t>
            </a:r>
            <a:r>
              <a:rPr lang="en-US" dirty="0" err="1"/>
              <a:t>muy</a:t>
            </a:r>
            <a:r>
              <a:rPr lang="en-US" dirty="0"/>
              <a:t> </a:t>
            </a:r>
            <a:r>
              <a:rPr lang="en-US" dirty="0" err="1"/>
              <a:t>compactos</a:t>
            </a:r>
            <a:r>
              <a:rPr lang="en-US" dirty="0"/>
              <a:t> y </a:t>
            </a:r>
            <a:r>
              <a:rPr lang="en-US" dirty="0" err="1"/>
              <a:t>uniformes</a:t>
            </a:r>
            <a:r>
              <a:rPr lang="en-US" dirty="0"/>
              <a:t> </a:t>
            </a:r>
            <a:r>
              <a:rPr lang="en-US" dirty="0" err="1"/>
              <a:t>en</a:t>
            </a:r>
            <a:r>
              <a:rPr lang="en-US" dirty="0"/>
              <a:t> </a:t>
            </a:r>
            <a:r>
              <a:rPr lang="en-US" dirty="0" err="1"/>
              <a:t>tamaño</a:t>
            </a:r>
            <a:r>
              <a:rPr lang="en-US" dirty="0"/>
              <a:t> (</a:t>
            </a:r>
            <a:r>
              <a:rPr lang="en-US" dirty="0" err="1"/>
              <a:t>casi</a:t>
            </a:r>
            <a:r>
              <a:rPr lang="en-US" dirty="0"/>
              <a:t> </a:t>
            </a:r>
            <a:r>
              <a:rPr lang="en-US" dirty="0" err="1"/>
              <a:t>reticulares</a:t>
            </a:r>
            <a:r>
              <a:rPr lang="en-US" dirty="0"/>
              <a:t>).</a:t>
            </a:r>
          </a:p>
          <a:p>
            <a:r>
              <a:rPr lang="en-US" dirty="0" err="1">
                <a:ea typeface="Calibri"/>
                <a:cs typeface="Calibri"/>
              </a:rPr>
              <a:t>Desventajas</a:t>
            </a:r>
            <a:r>
              <a:rPr lang="en-US" dirty="0">
                <a:ea typeface="Calibri"/>
                <a:cs typeface="Calibri"/>
              </a:rPr>
              <a:t>: </a:t>
            </a:r>
            <a:r>
              <a:rPr lang="en-US" dirty="0" err="1"/>
              <a:t>Tiende</a:t>
            </a:r>
            <a:r>
              <a:rPr lang="en-US" dirty="0"/>
              <a:t> a </a:t>
            </a:r>
            <a:r>
              <a:rPr lang="en-US" dirty="0" err="1"/>
              <a:t>tener</a:t>
            </a:r>
            <a:r>
              <a:rPr lang="en-US" dirty="0"/>
              <a:t> baja </a:t>
            </a:r>
            <a:r>
              <a:rPr lang="en-US" dirty="0" err="1"/>
              <a:t>adherencia</a:t>
            </a:r>
            <a:r>
              <a:rPr lang="en-US" dirty="0"/>
              <a:t> a </a:t>
            </a:r>
            <a:r>
              <a:rPr lang="en-US" dirty="0" err="1"/>
              <a:t>los</a:t>
            </a:r>
            <a:r>
              <a:rPr lang="en-US" dirty="0"/>
              <a:t> </a:t>
            </a:r>
            <a:r>
              <a:rPr lang="en-US" dirty="0" err="1"/>
              <a:t>límites</a:t>
            </a:r>
            <a:r>
              <a:rPr lang="en-US" dirty="0"/>
              <a:t> y es lento </a:t>
            </a:r>
            <a:r>
              <a:rPr lang="en-US" dirty="0" err="1"/>
              <a:t>en</a:t>
            </a:r>
            <a:r>
              <a:rPr lang="en-US" dirty="0"/>
              <a:t> </a:t>
            </a:r>
            <a:r>
              <a:rPr lang="en-US" dirty="0" err="1"/>
              <a:t>comparación</a:t>
            </a:r>
            <a:r>
              <a:rPr lang="en-US" dirty="0"/>
              <a:t> con SLIC.</a:t>
            </a:r>
            <a:endParaRPr lang="en-US" dirty="0">
              <a:ea typeface="Calibri"/>
              <a:cs typeface="Calibri"/>
            </a:endParaRPr>
          </a:p>
          <a:p>
            <a:r>
              <a:rPr lang="en-US" dirty="0" err="1">
                <a:ea typeface="Calibri"/>
                <a:cs typeface="Calibri"/>
              </a:rPr>
              <a:t>WaterPixels</a:t>
            </a:r>
          </a:p>
          <a:p>
            <a:r>
              <a:rPr lang="en-US" dirty="0" err="1">
                <a:ea typeface="Calibri"/>
                <a:cs typeface="Calibri"/>
              </a:rPr>
              <a:t>Ventajas</a:t>
            </a:r>
            <a:r>
              <a:rPr lang="en-US" dirty="0">
                <a:ea typeface="Calibri"/>
                <a:cs typeface="Calibri"/>
              </a:rPr>
              <a:t>: </a:t>
            </a:r>
            <a:r>
              <a:rPr lang="en-US" dirty="0" err="1"/>
              <a:t>Rápido</a:t>
            </a:r>
            <a:r>
              <a:rPr lang="en-US" dirty="0"/>
              <a:t> (lineal), </a:t>
            </a:r>
            <a:r>
              <a:rPr lang="en-US" dirty="0" err="1"/>
              <a:t>garantiza</a:t>
            </a:r>
            <a:r>
              <a:rPr lang="en-US" dirty="0"/>
              <a:t> </a:t>
            </a:r>
            <a:r>
              <a:rPr lang="en-US" dirty="0" err="1"/>
              <a:t>conectividad</a:t>
            </a:r>
            <a:r>
              <a:rPr lang="en-US" dirty="0"/>
              <a:t> sin post-</a:t>
            </a:r>
            <a:r>
              <a:rPr lang="en-US" dirty="0" err="1"/>
              <a:t>procesamiento</a:t>
            </a:r>
            <a:r>
              <a:rPr lang="en-US" dirty="0"/>
              <a:t>, </a:t>
            </a:r>
            <a:r>
              <a:rPr lang="en-US" dirty="0" err="1"/>
              <a:t>excelente</a:t>
            </a:r>
            <a:r>
              <a:rPr lang="en-US" dirty="0"/>
              <a:t> </a:t>
            </a:r>
            <a:r>
              <a:rPr lang="en-US" dirty="0" err="1"/>
              <a:t>adherencia</a:t>
            </a:r>
            <a:r>
              <a:rPr lang="en-US" dirty="0"/>
              <a:t> a </a:t>
            </a:r>
            <a:r>
              <a:rPr lang="en-US" dirty="0" err="1"/>
              <a:t>los</a:t>
            </a:r>
            <a:r>
              <a:rPr lang="en-US" dirty="0"/>
              <a:t> </a:t>
            </a:r>
            <a:r>
              <a:rPr lang="en-US" dirty="0" err="1"/>
              <a:t>límites</a:t>
            </a:r>
            <a:r>
              <a:rPr lang="en-US" dirty="0"/>
              <a:t> </a:t>
            </a:r>
            <a:r>
              <a:rPr lang="en-US" dirty="0" err="1"/>
              <a:t>cuando</a:t>
            </a:r>
            <a:r>
              <a:rPr lang="en-US" dirty="0"/>
              <a:t> se </a:t>
            </a:r>
            <a:r>
              <a:rPr lang="en-US" dirty="0" err="1"/>
              <a:t>aplica</a:t>
            </a:r>
            <a:r>
              <a:rPr lang="en-US" dirty="0"/>
              <a:t> </a:t>
            </a:r>
            <a:r>
              <a:rPr lang="en-US" dirty="0" err="1"/>
              <a:t>sobre</a:t>
            </a:r>
            <a:r>
              <a:rPr lang="en-US" dirty="0"/>
              <a:t> </a:t>
            </a:r>
            <a:r>
              <a:rPr lang="en-US" dirty="0" err="1"/>
              <a:t>el</a:t>
            </a:r>
            <a:r>
              <a:rPr lang="en-US" dirty="0"/>
              <a:t> </a:t>
            </a:r>
            <a:r>
              <a:rPr lang="en-US" dirty="0" err="1"/>
              <a:t>gradiente</a:t>
            </a:r>
            <a:r>
              <a:rPr lang="en-US" dirty="0"/>
              <a:t>.</a:t>
            </a:r>
            <a:endParaRPr lang="en-US" dirty="0">
              <a:ea typeface="Calibri"/>
              <a:cs typeface="Calibri"/>
            </a:endParaRPr>
          </a:p>
          <a:p>
            <a:r>
              <a:rPr lang="en-US" dirty="0" err="1">
                <a:ea typeface="Calibri"/>
                <a:cs typeface="Calibri"/>
              </a:rPr>
              <a:t>Desventajas</a:t>
            </a:r>
            <a:r>
              <a:rPr lang="en-US" dirty="0">
                <a:ea typeface="Calibri"/>
                <a:cs typeface="Calibri"/>
              </a:rPr>
              <a:t>: </a:t>
            </a:r>
            <a:r>
              <a:rPr lang="en-US" dirty="0" err="1"/>
              <a:t>Requiere</a:t>
            </a:r>
            <a:r>
              <a:rPr lang="en-US" dirty="0"/>
              <a:t> un </a:t>
            </a:r>
            <a:r>
              <a:rPr lang="en-US" dirty="0" err="1"/>
              <a:t>diseño</a:t>
            </a:r>
            <a:r>
              <a:rPr lang="en-US" dirty="0"/>
              <a:t> </a:t>
            </a:r>
            <a:r>
              <a:rPr lang="en-US" dirty="0" err="1"/>
              <a:t>cuidadoso</a:t>
            </a:r>
            <a:r>
              <a:rPr lang="en-US" dirty="0"/>
              <a:t> de </a:t>
            </a:r>
            <a:r>
              <a:rPr lang="en-US" dirty="0" err="1"/>
              <a:t>marcadores</a:t>
            </a:r>
            <a:r>
              <a:rPr lang="en-US" dirty="0"/>
              <a:t> y </a:t>
            </a:r>
            <a:r>
              <a:rPr lang="en-US" dirty="0" err="1"/>
              <a:t>gradientes</a:t>
            </a:r>
            <a:r>
              <a:rPr lang="en-US" dirty="0"/>
              <a:t> para </a:t>
            </a:r>
            <a:r>
              <a:rPr lang="en-US" dirty="0" err="1"/>
              <a:t>fomentar</a:t>
            </a:r>
            <a:r>
              <a:rPr lang="en-US" dirty="0"/>
              <a:t> la </a:t>
            </a:r>
            <a:r>
              <a:rPr lang="en-US" dirty="0" err="1"/>
              <a:t>regularidad</a:t>
            </a:r>
            <a:r>
              <a:rPr lang="en-US" dirty="0"/>
              <a:t>.</a:t>
            </a:r>
          </a:p>
          <a:p>
            <a:endParaRPr lang="en-US" dirty="0">
              <a:ea typeface="Calibri"/>
              <a:cs typeface="Calibri"/>
            </a:endParaRPr>
          </a:p>
        </p:txBody>
      </p:sp>
      <p:sp>
        <p:nvSpPr>
          <p:cNvPr id="4" name="Slide Number Placeholder 3">
            <a:extLst>
              <a:ext uri="{FF2B5EF4-FFF2-40B4-BE49-F238E27FC236}">
                <a16:creationId xmlns:a16="http://schemas.microsoft.com/office/drawing/2014/main" id="{28860EAD-43E9-4DC3-9524-695001D9D270}"/>
              </a:ext>
            </a:extLst>
          </p:cNvPr>
          <p:cNvSpPr>
            <a:spLocks noGrp="1"/>
          </p:cNvSpPr>
          <p:nvPr>
            <p:ph type="sldNum" sz="quarter" idx="5"/>
          </p:nvPr>
        </p:nvSpPr>
        <p:spPr/>
        <p:txBody>
          <a:bodyPr/>
          <a:lstStyle/>
          <a:p>
            <a:fld id="{8A99C1F1-4140-4E04-8A14-2902985CB980}" type="slidenum">
              <a:t>12</a:t>
            </a:fld>
            <a:endParaRPr lang="en-US"/>
          </a:p>
        </p:txBody>
      </p:sp>
    </p:spTree>
    <p:extLst>
      <p:ext uri="{BB962C8B-B14F-4D97-AF65-F5344CB8AC3E}">
        <p14:creationId xmlns:p14="http://schemas.microsoft.com/office/powerpoint/2010/main" val="31991411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a:t>
            </a:r>
            <a:r>
              <a:rPr lang="en-US" dirty="0" err="1"/>
              <a:t>Mecanismo</a:t>
            </a:r>
            <a:r>
              <a:rPr lang="en-US" dirty="0"/>
              <a:t>: </a:t>
            </a:r>
            <a:r>
              <a:rPr lang="en-US" dirty="0" err="1"/>
              <a:t>Adapta</a:t>
            </a:r>
            <a:r>
              <a:rPr lang="en-US" dirty="0"/>
              <a:t> </a:t>
            </a:r>
            <a:r>
              <a:rPr lang="en-US" dirty="0" err="1"/>
              <a:t>el</a:t>
            </a:r>
            <a:r>
              <a:rPr lang="en-US" dirty="0"/>
              <a:t> </a:t>
            </a:r>
            <a:r>
              <a:rPr lang="en-US" dirty="0" err="1"/>
              <a:t>algoritmo</a:t>
            </a:r>
            <a:r>
              <a:rPr lang="en-US" dirty="0"/>
              <a:t> de k-means para </a:t>
            </a:r>
            <a:r>
              <a:rPr lang="en-US" dirty="0" err="1"/>
              <a:t>realizar</a:t>
            </a:r>
            <a:r>
              <a:rPr lang="en-US" dirty="0"/>
              <a:t> </a:t>
            </a:r>
            <a:r>
              <a:rPr lang="en-US" dirty="0" err="1"/>
              <a:t>el</a:t>
            </a:r>
            <a:r>
              <a:rPr lang="en-US" dirty="0"/>
              <a:t> </a:t>
            </a:r>
            <a:r>
              <a:rPr lang="en-US" dirty="0" err="1"/>
              <a:t>agrupamiento</a:t>
            </a:r>
            <a:r>
              <a:rPr lang="en-US" dirty="0"/>
              <a:t> </a:t>
            </a:r>
            <a:r>
              <a:rPr lang="en-US" dirty="0" err="1"/>
              <a:t>en</a:t>
            </a:r>
            <a:r>
              <a:rPr lang="en-US" dirty="0"/>
              <a:t> </a:t>
            </a:r>
            <a:r>
              <a:rPr lang="en-US" dirty="0" err="1"/>
              <a:t>el</a:t>
            </a:r>
            <a:r>
              <a:rPr lang="en-US" dirty="0"/>
              <a:t> </a:t>
            </a:r>
            <a:r>
              <a:rPr lang="en-US" dirty="0" err="1"/>
              <a:t>espacio</a:t>
            </a:r>
            <a:r>
              <a:rPr lang="en-US" dirty="0"/>
              <a:t> de </a:t>
            </a:r>
            <a:r>
              <a:rPr lang="en-US" dirty="0" err="1"/>
              <a:t>características</a:t>
            </a:r>
            <a:r>
              <a:rPr lang="en-US" dirty="0"/>
              <a:t> de 5 </a:t>
            </a:r>
            <a:r>
              <a:rPr lang="en-US" dirty="0" err="1"/>
              <a:t>dimensiones</a:t>
            </a:r>
            <a:r>
              <a:rPr lang="en-US" dirty="0"/>
              <a:t> (</a:t>
            </a:r>
            <a:r>
              <a:rPr lang="en-US" dirty="0" err="1"/>
              <a:t>Labxy</a:t>
            </a:r>
            <a:r>
              <a:rPr lang="en-US" dirty="0"/>
              <a:t>), </a:t>
            </a:r>
            <a:r>
              <a:rPr lang="en-US" dirty="0" err="1"/>
              <a:t>combinando</a:t>
            </a:r>
            <a:r>
              <a:rPr lang="en-US" dirty="0"/>
              <a:t> </a:t>
            </a:r>
            <a:r>
              <a:rPr lang="en-US" dirty="0" err="1"/>
              <a:t>los</a:t>
            </a:r>
            <a:r>
              <a:rPr lang="en-US" dirty="0"/>
              <a:t> </a:t>
            </a:r>
            <a:r>
              <a:rPr lang="en-US" dirty="0" err="1"/>
              <a:t>tres</a:t>
            </a:r>
            <a:r>
              <a:rPr lang="en-US" dirty="0"/>
              <a:t> </a:t>
            </a:r>
            <a:r>
              <a:rPr lang="en-US" dirty="0" err="1"/>
              <a:t>componentes</a:t>
            </a:r>
            <a:r>
              <a:rPr lang="en-US" dirty="0"/>
              <a:t> de color y las dos </a:t>
            </a:r>
            <a:r>
              <a:rPr lang="en-US" dirty="0" err="1"/>
              <a:t>coordenadas</a:t>
            </a:r>
            <a:r>
              <a:rPr lang="en-US" dirty="0"/>
              <a:t> </a:t>
            </a:r>
            <a:r>
              <a:rPr lang="en-US" dirty="0" err="1"/>
              <a:t>espaciales</a:t>
            </a:r>
            <a:r>
              <a:rPr lang="en-US" dirty="0"/>
              <a:t>.</a:t>
            </a:r>
            <a:endParaRPr lang="en-US" dirty="0">
              <a:solidFill>
                <a:srgbClr val="444444"/>
              </a:solidFill>
            </a:endParaRPr>
          </a:p>
          <a:p>
            <a:r>
              <a:rPr lang="en-US" dirty="0"/>
              <a:t>2. </a:t>
            </a:r>
            <a:r>
              <a:rPr lang="en-US" dirty="0" err="1"/>
              <a:t>Eficiencia</a:t>
            </a:r>
            <a:r>
              <a:rPr lang="en-US" dirty="0"/>
              <a:t>: Su </a:t>
            </a:r>
            <a:r>
              <a:rPr lang="en-US" dirty="0" err="1"/>
              <a:t>complejidad</a:t>
            </a:r>
            <a:r>
              <a:rPr lang="en-US" dirty="0"/>
              <a:t> se reduce a ser lineal </a:t>
            </a:r>
            <a:r>
              <a:rPr lang="en-US" dirty="0" err="1"/>
              <a:t>en</a:t>
            </a:r>
            <a:r>
              <a:rPr lang="en-US" dirty="0"/>
              <a:t> </a:t>
            </a:r>
            <a:r>
              <a:rPr lang="en-US" dirty="0" err="1"/>
              <a:t>el</a:t>
            </a:r>
            <a:r>
              <a:rPr lang="en-US" dirty="0"/>
              <a:t> </a:t>
            </a:r>
            <a:r>
              <a:rPr lang="en-US" dirty="0" err="1"/>
              <a:t>número</a:t>
            </a:r>
            <a:r>
              <a:rPr lang="en-US" dirty="0"/>
              <a:t> de </a:t>
            </a:r>
            <a:r>
              <a:rPr lang="en-US" dirty="0" err="1"/>
              <a:t>píxeles</a:t>
            </a:r>
            <a:r>
              <a:rPr lang="en-US" dirty="0"/>
              <a:t> O(N). Esto se </a:t>
            </a:r>
            <a:r>
              <a:rPr lang="en-US" dirty="0" err="1"/>
              <a:t>logra</a:t>
            </a:r>
            <a:r>
              <a:rPr lang="en-US" dirty="0"/>
              <a:t> </a:t>
            </a:r>
            <a:r>
              <a:rPr lang="en-US" dirty="0" err="1"/>
              <a:t>limitando</a:t>
            </a:r>
            <a:r>
              <a:rPr lang="en-US" dirty="0"/>
              <a:t> </a:t>
            </a:r>
            <a:r>
              <a:rPr lang="en-US" dirty="0" err="1"/>
              <a:t>el</a:t>
            </a:r>
            <a:r>
              <a:rPr lang="en-US" dirty="0"/>
              <a:t> </a:t>
            </a:r>
            <a:r>
              <a:rPr lang="en-US" dirty="0" err="1"/>
              <a:t>espacio</a:t>
            </a:r>
            <a:r>
              <a:rPr lang="en-US" dirty="0"/>
              <a:t> de </a:t>
            </a:r>
            <a:r>
              <a:rPr lang="en-US" dirty="0" err="1"/>
              <a:t>búsqueda</a:t>
            </a:r>
            <a:r>
              <a:rPr lang="en-US" dirty="0"/>
              <a:t> de </a:t>
            </a:r>
            <a:r>
              <a:rPr lang="en-US" dirty="0" err="1"/>
              <a:t>cada</a:t>
            </a:r>
            <a:r>
              <a:rPr lang="en-US" dirty="0"/>
              <a:t> </a:t>
            </a:r>
            <a:r>
              <a:rPr lang="en-US" dirty="0" err="1"/>
              <a:t>centro</a:t>
            </a:r>
            <a:r>
              <a:rPr lang="en-US" dirty="0"/>
              <a:t> de </a:t>
            </a:r>
            <a:r>
              <a:rPr lang="en-US" dirty="0" err="1"/>
              <a:t>clúster</a:t>
            </a:r>
            <a:r>
              <a:rPr lang="en-US" dirty="0"/>
              <a:t> a </a:t>
            </a:r>
            <a:r>
              <a:rPr lang="en-US" dirty="0" err="1"/>
              <a:t>una</a:t>
            </a:r>
            <a:r>
              <a:rPr lang="en-US" dirty="0"/>
              <a:t> </a:t>
            </a:r>
            <a:r>
              <a:rPr lang="en-US" dirty="0" err="1"/>
              <a:t>región</a:t>
            </a:r>
            <a:r>
              <a:rPr lang="en-US" dirty="0"/>
              <a:t> 2S×2S </a:t>
            </a:r>
            <a:r>
              <a:rPr lang="en-US" dirty="0" err="1"/>
              <a:t>alrededor</a:t>
            </a:r>
            <a:r>
              <a:rPr lang="en-US" dirty="0"/>
              <a:t> del </a:t>
            </a:r>
            <a:r>
              <a:rPr lang="en-US" dirty="0" err="1"/>
              <a:t>centro</a:t>
            </a:r>
            <a:r>
              <a:rPr lang="en-US" dirty="0"/>
              <a:t>, </a:t>
            </a:r>
            <a:r>
              <a:rPr lang="en-US" dirty="0" err="1"/>
              <a:t>donde</a:t>
            </a:r>
            <a:r>
              <a:rPr lang="en-US" dirty="0"/>
              <a:t> S es </a:t>
            </a:r>
            <a:r>
              <a:rPr lang="en-US" dirty="0" err="1"/>
              <a:t>el</a:t>
            </a:r>
            <a:r>
              <a:rPr lang="en-US" dirty="0"/>
              <a:t> </a:t>
            </a:r>
            <a:r>
              <a:rPr lang="en-US" dirty="0" err="1"/>
              <a:t>espaciado</a:t>
            </a:r>
            <a:r>
              <a:rPr lang="en-US" dirty="0"/>
              <a:t> </a:t>
            </a:r>
            <a:r>
              <a:rPr lang="en-US" dirty="0" err="1"/>
              <a:t>inicial</a:t>
            </a:r>
            <a:r>
              <a:rPr lang="en-US" dirty="0"/>
              <a:t> de la </a:t>
            </a:r>
            <a:r>
              <a:rPr lang="en-US" dirty="0" err="1"/>
              <a:t>cuadrícula</a:t>
            </a:r>
            <a:r>
              <a:rPr lang="en-US" dirty="0"/>
              <a:t>.</a:t>
            </a:r>
            <a:endParaRPr lang="en-US" dirty="0">
              <a:solidFill>
                <a:srgbClr val="444444"/>
              </a:solidFill>
            </a:endParaRPr>
          </a:p>
          <a:p>
            <a:r>
              <a:rPr lang="en-US" dirty="0"/>
              <a:t>3. Distancia: </a:t>
            </a:r>
            <a:r>
              <a:rPr lang="en-US" dirty="0" err="1"/>
              <a:t>Utiliza</a:t>
            </a:r>
            <a:r>
              <a:rPr lang="en-US" dirty="0"/>
              <a:t> </a:t>
            </a:r>
            <a:r>
              <a:rPr lang="en-US" dirty="0" err="1"/>
              <a:t>una</a:t>
            </a:r>
            <a:r>
              <a:rPr lang="en-US" dirty="0"/>
              <a:t> </a:t>
            </a:r>
            <a:r>
              <a:rPr lang="en-US" dirty="0" err="1"/>
              <a:t>métrica</a:t>
            </a:r>
            <a:r>
              <a:rPr lang="en-US" dirty="0"/>
              <a:t> de </a:t>
            </a:r>
            <a:r>
              <a:rPr lang="en-US" dirty="0" err="1"/>
              <a:t>distancia</a:t>
            </a:r>
            <a:r>
              <a:rPr lang="en-US" dirty="0"/>
              <a:t> </a:t>
            </a:r>
            <a:r>
              <a:rPr lang="en-US" dirty="0" err="1"/>
              <a:t>ponderada</a:t>
            </a:r>
            <a:r>
              <a:rPr lang="en-US" dirty="0"/>
              <a:t> </a:t>
            </a:r>
            <a:r>
              <a:rPr lang="en-US" dirty="0" err="1"/>
              <a:t>que</a:t>
            </a:r>
            <a:r>
              <a:rPr lang="en-US" dirty="0"/>
              <a:t> </a:t>
            </a:r>
            <a:r>
              <a:rPr lang="en-US" dirty="0" err="1"/>
              <a:t>combina</a:t>
            </a:r>
            <a:r>
              <a:rPr lang="en-US" dirty="0"/>
              <a:t> la </a:t>
            </a:r>
            <a:r>
              <a:rPr lang="en-US" dirty="0" err="1"/>
              <a:t>distancia</a:t>
            </a:r>
            <a:r>
              <a:rPr lang="en-US" dirty="0"/>
              <a:t> </a:t>
            </a:r>
            <a:r>
              <a:rPr lang="en-US" dirty="0" err="1"/>
              <a:t>espacial</a:t>
            </a:r>
            <a:r>
              <a:rPr lang="en-US" dirty="0"/>
              <a:t> (d s) y la </a:t>
            </a:r>
            <a:r>
              <a:rPr lang="en-US" dirty="0" err="1"/>
              <a:t>distancia</a:t>
            </a:r>
            <a:r>
              <a:rPr lang="en-US" dirty="0"/>
              <a:t> de color (d c). Esta </a:t>
            </a:r>
            <a:r>
              <a:rPr lang="en-US" dirty="0" err="1"/>
              <a:t>ponderación</a:t>
            </a:r>
            <a:r>
              <a:rPr lang="en-US" dirty="0"/>
              <a:t> se </a:t>
            </a:r>
            <a:r>
              <a:rPr lang="en-US" dirty="0" err="1"/>
              <a:t>controla</a:t>
            </a:r>
            <a:r>
              <a:rPr lang="en-US" dirty="0"/>
              <a:t> </a:t>
            </a:r>
            <a:r>
              <a:rPr lang="en-US" dirty="0" err="1"/>
              <a:t>mediante</a:t>
            </a:r>
            <a:r>
              <a:rPr lang="en-US" dirty="0"/>
              <a:t> un factor de </a:t>
            </a:r>
            <a:r>
              <a:rPr lang="en-US" dirty="0" err="1"/>
              <a:t>compacidad</a:t>
            </a:r>
            <a:r>
              <a:rPr lang="en-US" dirty="0"/>
              <a:t> (m), lo </a:t>
            </a:r>
            <a:r>
              <a:rPr lang="en-US" dirty="0" err="1"/>
              <a:t>que</a:t>
            </a:r>
            <a:r>
              <a:rPr lang="en-US" dirty="0"/>
              <a:t> le da </a:t>
            </a:r>
            <a:r>
              <a:rPr lang="en-US" dirty="0" err="1"/>
              <a:t>flexibilidad</a:t>
            </a:r>
            <a:r>
              <a:rPr lang="en-US" dirty="0"/>
              <a:t> para </a:t>
            </a:r>
            <a:r>
              <a:rPr lang="en-US" dirty="0" err="1"/>
              <a:t>generar</a:t>
            </a:r>
            <a:r>
              <a:rPr lang="en-US" dirty="0"/>
              <a:t> </a:t>
            </a:r>
            <a:r>
              <a:rPr lang="en-US" dirty="0" err="1"/>
              <a:t>superpíxeles</a:t>
            </a:r>
            <a:r>
              <a:rPr lang="en-US" dirty="0"/>
              <a:t> </a:t>
            </a:r>
            <a:r>
              <a:rPr lang="en-US" dirty="0" err="1"/>
              <a:t>compactos</a:t>
            </a:r>
            <a:r>
              <a:rPr lang="en-US" dirty="0"/>
              <a:t> o </a:t>
            </a:r>
            <a:r>
              <a:rPr lang="en-US" dirty="0" err="1"/>
              <a:t>superpíxeles</a:t>
            </a:r>
            <a:r>
              <a:rPr lang="en-US" dirty="0"/>
              <a:t> </a:t>
            </a:r>
            <a:r>
              <a:rPr lang="en-US" dirty="0" err="1"/>
              <a:t>que</a:t>
            </a:r>
            <a:r>
              <a:rPr lang="en-US" dirty="0"/>
              <a:t> se </a:t>
            </a:r>
            <a:r>
              <a:rPr lang="en-US" dirty="0" err="1"/>
              <a:t>adhieren</a:t>
            </a:r>
            <a:r>
              <a:rPr lang="en-US" dirty="0"/>
              <a:t> </a:t>
            </a:r>
            <a:r>
              <a:rPr lang="en-US" dirty="0" err="1"/>
              <a:t>más</a:t>
            </a:r>
            <a:r>
              <a:rPr lang="en-US" dirty="0"/>
              <a:t> a </a:t>
            </a:r>
            <a:r>
              <a:rPr lang="en-US" dirty="0" err="1"/>
              <a:t>los</a:t>
            </a:r>
            <a:r>
              <a:rPr lang="en-US" dirty="0"/>
              <a:t> </a:t>
            </a:r>
            <a:r>
              <a:rPr lang="en-US" dirty="0" err="1"/>
              <a:t>límites</a:t>
            </a:r>
            <a:r>
              <a:rPr lang="en-US" dirty="0"/>
              <a:t>.</a:t>
            </a:r>
            <a:endParaRPr lang="en-US" dirty="0">
              <a:solidFill>
                <a:srgbClr val="444444"/>
              </a:solidFill>
            </a:endParaRPr>
          </a:p>
          <a:p>
            <a:r>
              <a:rPr lang="en-US" dirty="0"/>
              <a:t>4. </a:t>
            </a:r>
            <a:r>
              <a:rPr lang="en-US" dirty="0" err="1"/>
              <a:t>Limitaciones</a:t>
            </a:r>
            <a:r>
              <a:rPr lang="en-US" dirty="0"/>
              <a:t>: </a:t>
            </a:r>
            <a:r>
              <a:rPr lang="en-US" dirty="0" err="1"/>
              <a:t>Requiere</a:t>
            </a:r>
            <a:r>
              <a:rPr lang="en-US" dirty="0"/>
              <a:t> </a:t>
            </a:r>
            <a:r>
              <a:rPr lang="en-US" dirty="0" err="1"/>
              <a:t>múltiples</a:t>
            </a:r>
            <a:r>
              <a:rPr lang="en-US" dirty="0"/>
              <a:t> </a:t>
            </a:r>
            <a:r>
              <a:rPr lang="en-US" dirty="0" err="1"/>
              <a:t>iteraciones</a:t>
            </a:r>
            <a:r>
              <a:rPr lang="en-US" dirty="0"/>
              <a:t> para </a:t>
            </a:r>
            <a:r>
              <a:rPr lang="en-US" dirty="0" err="1"/>
              <a:t>que</a:t>
            </a:r>
            <a:r>
              <a:rPr lang="en-US" dirty="0"/>
              <a:t> </a:t>
            </a:r>
            <a:r>
              <a:rPr lang="en-US" dirty="0" err="1"/>
              <a:t>los</a:t>
            </a:r>
            <a:r>
              <a:rPr lang="en-US" dirty="0"/>
              <a:t> </a:t>
            </a:r>
            <a:r>
              <a:rPr lang="en-US" dirty="0" err="1"/>
              <a:t>centroides</a:t>
            </a:r>
            <a:r>
              <a:rPr lang="en-US" dirty="0"/>
              <a:t> </a:t>
            </a:r>
            <a:r>
              <a:rPr lang="en-US" dirty="0" err="1"/>
              <a:t>converjan</a:t>
            </a:r>
            <a:r>
              <a:rPr lang="en-US" dirty="0"/>
              <a:t> y </a:t>
            </a:r>
            <a:r>
              <a:rPr lang="en-US" dirty="0" err="1"/>
              <a:t>generalmente</a:t>
            </a:r>
            <a:r>
              <a:rPr lang="en-US" dirty="0"/>
              <a:t> </a:t>
            </a:r>
            <a:r>
              <a:rPr lang="en-US" dirty="0" err="1"/>
              <a:t>necesita</a:t>
            </a:r>
            <a:r>
              <a:rPr lang="en-US" dirty="0"/>
              <a:t> un paso de post-</a:t>
            </a:r>
            <a:r>
              <a:rPr lang="en-US" dirty="0" err="1"/>
              <a:t>procesamiento</a:t>
            </a:r>
            <a:r>
              <a:rPr lang="en-US" dirty="0"/>
              <a:t> para </a:t>
            </a:r>
            <a:r>
              <a:rPr lang="en-US" dirty="0" err="1"/>
              <a:t>forzar</a:t>
            </a:r>
            <a:r>
              <a:rPr lang="en-US" dirty="0"/>
              <a:t> la </a:t>
            </a:r>
            <a:r>
              <a:rPr lang="en-US" dirty="0" err="1"/>
              <a:t>conectividad</a:t>
            </a:r>
            <a:r>
              <a:rPr lang="en-US" dirty="0"/>
              <a:t>.</a:t>
            </a:r>
            <a:endParaRPr lang="en-US" dirty="0">
              <a:solidFill>
                <a:srgbClr val="444444"/>
              </a:solidFill>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8A99C1F1-4140-4E04-8A14-2902985CB980}" type="slidenum">
              <a:rPr lang="en-US"/>
              <a:t>13</a:t>
            </a:fld>
            <a:endParaRPr lang="en-US"/>
          </a:p>
        </p:txBody>
      </p:sp>
    </p:spTree>
    <p:extLst>
      <p:ext uri="{BB962C8B-B14F-4D97-AF65-F5344CB8AC3E}">
        <p14:creationId xmlns:p14="http://schemas.microsoft.com/office/powerpoint/2010/main" val="25997190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78D58-F8E8-FF4A-A7C1-3AC85D1290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CB8328-4196-DF79-372E-A8AC46D4E5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100188-E401-5029-6D75-569B53E830F8}"/>
              </a:ext>
            </a:extLst>
          </p:cNvPr>
          <p:cNvSpPr>
            <a:spLocks noGrp="1"/>
          </p:cNvSpPr>
          <p:nvPr>
            <p:ph type="body" idx="1"/>
          </p:nvPr>
        </p:nvSpPr>
        <p:spPr/>
        <p:txBody>
          <a:bodyPr/>
          <a:lstStyle/>
          <a:p>
            <a:r>
              <a:rPr lang="es-MX" dirty="0"/>
              <a:t>En el campo de la imagen médica (tomografías computarizadas (CT), resonancias magnéticas (MRI), etc.), la segmentación a nivel de píxel es a menudo intratable debido al gran tamaño de las imágenes (por ejemplo, pilas de datos 3D con miles de millones de </a:t>
            </a:r>
            <a:r>
              <a:rPr lang="es-MX" dirty="0" err="1"/>
              <a:t>vóxeles</a:t>
            </a:r>
            <a:r>
              <a:rPr lang="es-MX" dirty="0"/>
              <a:t>).</a:t>
            </a:r>
            <a:endParaRPr lang="en-US" dirty="0"/>
          </a:p>
          <a:p>
            <a:r>
              <a:rPr lang="es-MX" dirty="0"/>
              <a:t>• Segmentación de Estructuras Celulares/Órganos: Se utilizan para simplificar el grafo de la imagen, haciendo que la segmentación de estructuras como mitocondrias en micrografías electrónicas (EM) sea viable. También se aplican en la segmentación de la próstata a partir de imágenes de MRI utilizando un algoritmo de </a:t>
            </a:r>
            <a:r>
              <a:rPr lang="es-MX" dirty="0" err="1"/>
              <a:t>graph</a:t>
            </a:r>
            <a:r>
              <a:rPr lang="es-MX" dirty="0"/>
              <a:t> </a:t>
            </a:r>
            <a:r>
              <a:rPr lang="es-MX" dirty="0" err="1"/>
              <a:t>cut</a:t>
            </a:r>
            <a:r>
              <a:rPr lang="es-MX" dirty="0"/>
              <a:t> 3D basado en </a:t>
            </a:r>
            <a:r>
              <a:rPr lang="es-MX" dirty="0" err="1"/>
              <a:t>superpíxeles</a:t>
            </a:r>
            <a:r>
              <a:rPr lang="es-MX" dirty="0"/>
              <a:t>, o para la segmentación de gliomas cerebrales.</a:t>
            </a:r>
            <a:endParaRPr lang="es-MX" dirty="0">
              <a:ea typeface="Calibri"/>
              <a:cs typeface="Calibri"/>
            </a:endParaRPr>
          </a:p>
          <a:p>
            <a:r>
              <a:rPr lang="es-MX" dirty="0"/>
              <a:t>• Detección de Enfermedades: Se utilizan para la detección de glaucoma mediante clasificación y en la detección de cáncer de cabeza y cuello utilizando imágenes hiperespectrales.</a:t>
            </a:r>
            <a:endParaRPr lang="es-MX" dirty="0">
              <a:ea typeface="Calibri"/>
              <a:cs typeface="Calibri"/>
            </a:endParaRPr>
          </a:p>
          <a:p>
            <a:r>
              <a:rPr lang="es-MX" dirty="0"/>
              <a:t>• Reducción de Ruido: Ayudan a la robustez contra el ruido y sesgos al agrupar píxeles y trabajar con promedios de región</a:t>
            </a:r>
            <a:endParaRPr lang="es-MX" dirty="0">
              <a:ea typeface="Calibri"/>
              <a:cs typeface="Calibri"/>
            </a:endParaRPr>
          </a:p>
        </p:txBody>
      </p:sp>
      <p:sp>
        <p:nvSpPr>
          <p:cNvPr id="4" name="Slide Number Placeholder 3">
            <a:extLst>
              <a:ext uri="{FF2B5EF4-FFF2-40B4-BE49-F238E27FC236}">
                <a16:creationId xmlns:a16="http://schemas.microsoft.com/office/drawing/2014/main" id="{988AEB16-0254-94EF-7693-BF4C9826EAA7}"/>
              </a:ext>
            </a:extLst>
          </p:cNvPr>
          <p:cNvSpPr>
            <a:spLocks noGrp="1"/>
          </p:cNvSpPr>
          <p:nvPr>
            <p:ph type="sldNum" sz="quarter" idx="5"/>
          </p:nvPr>
        </p:nvSpPr>
        <p:spPr/>
        <p:txBody>
          <a:bodyPr/>
          <a:lstStyle/>
          <a:p>
            <a:fld id="{8A99C1F1-4140-4E04-8A14-2902985CB980}" type="slidenum">
              <a:t>15</a:t>
            </a:fld>
            <a:endParaRPr lang="en-US"/>
          </a:p>
        </p:txBody>
      </p:sp>
    </p:spTree>
    <p:extLst>
      <p:ext uri="{BB962C8B-B14F-4D97-AF65-F5344CB8AC3E}">
        <p14:creationId xmlns:p14="http://schemas.microsoft.com/office/powerpoint/2010/main" val="34631999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46C21-4ECC-37AA-68B2-E77FD08E00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7BEE72-A979-784D-8F85-6DF1D39D4D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80D4F7-DE01-0342-D320-0D9ECC954956}"/>
              </a:ext>
            </a:extLst>
          </p:cNvPr>
          <p:cNvSpPr>
            <a:spLocks noGrp="1"/>
          </p:cNvSpPr>
          <p:nvPr>
            <p:ph type="body" idx="1"/>
          </p:nvPr>
        </p:nvSpPr>
        <p:spPr/>
        <p:txBody>
          <a:bodyPr/>
          <a:lstStyle/>
          <a:p>
            <a:r>
              <a:rPr lang="es-MX"/>
              <a:t>El uso principal y original de los superpíxeles es reducir la complejidad en tareas de alto nivel:</a:t>
            </a:r>
            <a:endParaRPr lang="en-US"/>
          </a:p>
          <a:p>
            <a:r>
              <a:rPr lang="es-MX" dirty="0"/>
              <a:t>• Segmentación Semántica y Clasificación de Clases: Los </a:t>
            </a:r>
            <a:r>
              <a:rPr lang="es-MX" dirty="0" err="1"/>
              <a:t>superpíxeles</a:t>
            </a:r>
            <a:r>
              <a:rPr lang="es-MX" dirty="0"/>
              <a:t> son de especial interés para la segmentación semántica, ya que reducen el número de entidades a etiquetar. Permiten la localización de objetos y se utilizan para calcular características de color, textura, geometría y ubicación, lo que a menudo mejora el rendimiento de los algoritmos de clasificación subsiguientes.</a:t>
            </a:r>
            <a:endParaRPr lang="es-MX" dirty="0">
              <a:ea typeface="Calibri"/>
              <a:cs typeface="Calibri"/>
            </a:endParaRPr>
          </a:p>
          <a:p>
            <a:r>
              <a:rPr lang="es-MX" dirty="0"/>
              <a:t>• Localización y Seguimiento: Se utilizan como base para el seguimiento robusto de </a:t>
            </a:r>
            <a:r>
              <a:rPr lang="es-MX" dirty="0" err="1"/>
              <a:t>superpíxeles</a:t>
            </a:r>
            <a:r>
              <a:rPr lang="es-MX" dirty="0"/>
              <a:t> en videos y para la detección de propuestas de objetos.</a:t>
            </a:r>
            <a:endParaRPr lang="es-MX" dirty="0">
              <a:ea typeface="Calibri"/>
              <a:cs typeface="Calibri"/>
            </a:endParaRPr>
          </a:p>
        </p:txBody>
      </p:sp>
      <p:sp>
        <p:nvSpPr>
          <p:cNvPr id="4" name="Slide Number Placeholder 3">
            <a:extLst>
              <a:ext uri="{FF2B5EF4-FFF2-40B4-BE49-F238E27FC236}">
                <a16:creationId xmlns:a16="http://schemas.microsoft.com/office/drawing/2014/main" id="{D7F483F4-8C40-6B5E-73E4-76792E713F65}"/>
              </a:ext>
            </a:extLst>
          </p:cNvPr>
          <p:cNvSpPr>
            <a:spLocks noGrp="1"/>
          </p:cNvSpPr>
          <p:nvPr>
            <p:ph type="sldNum" sz="quarter" idx="5"/>
          </p:nvPr>
        </p:nvSpPr>
        <p:spPr/>
        <p:txBody>
          <a:bodyPr/>
          <a:lstStyle/>
          <a:p>
            <a:fld id="{8A99C1F1-4140-4E04-8A14-2902985CB980}" type="slidenum">
              <a:t>16</a:t>
            </a:fld>
            <a:endParaRPr lang="en-US"/>
          </a:p>
        </p:txBody>
      </p:sp>
    </p:spTree>
    <p:extLst>
      <p:ext uri="{BB962C8B-B14F-4D97-AF65-F5344CB8AC3E}">
        <p14:creationId xmlns:p14="http://schemas.microsoft.com/office/powerpoint/2010/main" val="927131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BC8A8-14F0-C91D-4DD1-DB64ECDDD7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4BD38B-056F-F39C-BF3D-E191FCEA19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A585F3-CB6D-F86A-E371-55A3C2D8CA47}"/>
              </a:ext>
            </a:extLst>
          </p:cNvPr>
          <p:cNvSpPr>
            <a:spLocks noGrp="1"/>
          </p:cNvSpPr>
          <p:nvPr>
            <p:ph type="body" idx="1"/>
          </p:nvPr>
        </p:nvSpPr>
        <p:spPr/>
        <p:txBody>
          <a:bodyPr/>
          <a:lstStyle/>
          <a:p>
            <a:r>
              <a:rPr lang="es-MX"/>
              <a:t>Los </a:t>
            </a:r>
            <a:r>
              <a:rPr lang="es-MX" err="1"/>
              <a:t>superpíxeles</a:t>
            </a:r>
            <a:r>
              <a:rPr lang="es-MX"/>
              <a:t> son valiosos en la canalización de la visión por computadora porque proporcionan un soporte espacial para la extracción de características.</a:t>
            </a:r>
            <a:endParaRPr lang="en-US"/>
          </a:p>
          <a:p>
            <a:r>
              <a:rPr lang="es-MX"/>
              <a:t>• Representación Compacta: Permiten una representación de imagen compacta, donde cada superpíxel puede ser representado por su color promedio (o por aproximaciones polinómicas).</a:t>
            </a:r>
          </a:p>
          <a:p>
            <a:r>
              <a:rPr lang="es-MX"/>
              <a:t>• Base para Algoritmos de Segmentación: En algoritmos como Graph Cuts, la afinidad puede definirse sobre superpíxeles en lugar de píxeles, resultando en un grafo mucho más pequeño.</a:t>
            </a:r>
          </a:p>
          <a:p>
            <a:r>
              <a:rPr lang="es-MX" dirty="0"/>
              <a:t>• Análisis de Imágenes Hiperespectrales (HSI): En HSI, los </a:t>
            </a:r>
            <a:r>
              <a:rPr lang="es-MX" dirty="0" err="1"/>
              <a:t>superpíxeles</a:t>
            </a:r>
            <a:r>
              <a:rPr lang="es-MX" dirty="0"/>
              <a:t> son cruciales para abordar desafíos como la alta dimensionalidad (efecto Hughes) y la variabilidad espacial. Ayudan en tareas como la reducción de dimensionalidad, la selección de bandas y la clasificación</a:t>
            </a:r>
            <a:endParaRPr lang="es-MX" dirty="0">
              <a:ea typeface="Calibri"/>
              <a:cs typeface="Calibri"/>
            </a:endParaRPr>
          </a:p>
        </p:txBody>
      </p:sp>
      <p:sp>
        <p:nvSpPr>
          <p:cNvPr id="4" name="Slide Number Placeholder 3">
            <a:extLst>
              <a:ext uri="{FF2B5EF4-FFF2-40B4-BE49-F238E27FC236}">
                <a16:creationId xmlns:a16="http://schemas.microsoft.com/office/drawing/2014/main" id="{FE755D75-86C0-3B36-AD40-35646CFE6CBF}"/>
              </a:ext>
            </a:extLst>
          </p:cNvPr>
          <p:cNvSpPr>
            <a:spLocks noGrp="1"/>
          </p:cNvSpPr>
          <p:nvPr>
            <p:ph type="sldNum" sz="quarter" idx="5"/>
          </p:nvPr>
        </p:nvSpPr>
        <p:spPr/>
        <p:txBody>
          <a:bodyPr/>
          <a:lstStyle/>
          <a:p>
            <a:fld id="{8A99C1F1-4140-4E04-8A14-2902985CB980}" type="slidenum">
              <a:t>17</a:t>
            </a:fld>
            <a:endParaRPr lang="en-US"/>
          </a:p>
        </p:txBody>
      </p:sp>
    </p:spTree>
    <p:extLst>
      <p:ext uri="{BB962C8B-B14F-4D97-AF65-F5344CB8AC3E}">
        <p14:creationId xmlns:p14="http://schemas.microsoft.com/office/powerpoint/2010/main" val="11717506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MX" dirty="0"/>
              <a:t>Resumen de ventajas/desafíos</a:t>
            </a:r>
            <a:endParaRPr lang="es-MX" dirty="0">
              <a:ea typeface="Calibri"/>
              <a:cs typeface="Calibri"/>
            </a:endParaRPr>
          </a:p>
          <a:p>
            <a:endParaRPr lang="es-MX" dirty="0">
              <a:ea typeface="Calibri"/>
              <a:cs typeface="Calibri"/>
            </a:endParaRPr>
          </a:p>
          <a:p>
            <a:r>
              <a:rPr lang="es-MX" dirty="0"/>
              <a:t>Ventajas principales:</a:t>
            </a:r>
            <a:endParaRPr lang="es-MX" dirty="0">
              <a:ea typeface="Calibri"/>
              <a:cs typeface="Calibri"/>
            </a:endParaRPr>
          </a:p>
          <a:p>
            <a:r>
              <a:rPr lang="es-MX" dirty="0"/>
              <a:t>• Eficiencia: Reducen significativamente la complejidad computacional al pasar de millones de píxeles a miles de </a:t>
            </a:r>
            <a:r>
              <a:rPr lang="es-MX" dirty="0" err="1"/>
              <a:t>superpíxeles</a:t>
            </a:r>
            <a:r>
              <a:rPr lang="es-MX" dirty="0"/>
              <a:t>.</a:t>
            </a:r>
            <a:endParaRPr lang="es-MX" dirty="0">
              <a:ea typeface="Calibri"/>
              <a:cs typeface="Calibri"/>
            </a:endParaRPr>
          </a:p>
          <a:p>
            <a:r>
              <a:rPr lang="es-MX" dirty="0"/>
              <a:t>• Calidad de Segmentación: Mejoran el rendimiento de los algoritmos posteriores al agrupar píxeles en regiones perceptualmente coherentes.</a:t>
            </a:r>
            <a:endParaRPr lang="es-MX" dirty="0">
              <a:ea typeface="Calibri"/>
              <a:cs typeface="Calibri"/>
            </a:endParaRPr>
          </a:p>
          <a:p>
            <a:r>
              <a:rPr lang="es-MX" dirty="0"/>
              <a:t>• Adherencia a Límites: La mayoría de los algoritmos modernos están diseñados para adherirse bien a los límites de los objetos.</a:t>
            </a:r>
            <a:endParaRPr lang="es-MX" dirty="0">
              <a:ea typeface="Calibri"/>
              <a:cs typeface="Calibri"/>
            </a:endParaRPr>
          </a:p>
          <a:p>
            <a:endParaRPr lang="es-MX" dirty="0">
              <a:ea typeface="Calibri"/>
              <a:cs typeface="Calibri"/>
            </a:endParaRPr>
          </a:p>
          <a:p>
            <a:r>
              <a:rPr lang="es-MX" dirty="0"/>
              <a:t>Desafíos y </a:t>
            </a:r>
            <a:r>
              <a:rPr lang="es-MX" dirty="0" err="1"/>
              <a:t>Trade-offs</a:t>
            </a:r>
            <a:r>
              <a:rPr lang="es-MX" dirty="0"/>
              <a:t>:</a:t>
            </a:r>
            <a:endParaRPr lang="es-MX" dirty="0">
              <a:ea typeface="Calibri"/>
              <a:cs typeface="Calibri"/>
            </a:endParaRPr>
          </a:p>
          <a:p>
            <a:r>
              <a:rPr lang="es-MX" dirty="0"/>
              <a:t>• Compacidad vs. Adherencia: Existe un conflicto inherente entre lograr </a:t>
            </a:r>
            <a:r>
              <a:rPr lang="es-MX" dirty="0" err="1"/>
              <a:t>superpíxeles</a:t>
            </a:r>
            <a:r>
              <a:rPr lang="es-MX" dirty="0"/>
              <a:t> muy compactos y mantener una alta adherencia a los límites de los objetos. A menudo, la compacidad se logra a expensas de la adherencia a los límites.</a:t>
            </a:r>
            <a:endParaRPr lang="es-MX" dirty="0">
              <a:ea typeface="Calibri"/>
              <a:cs typeface="Calibri"/>
            </a:endParaRPr>
          </a:p>
          <a:p>
            <a:r>
              <a:rPr lang="es-MX" dirty="0"/>
              <a:t>• Control de K (Número de </a:t>
            </a:r>
            <a:r>
              <a:rPr lang="es-MX" dirty="0" err="1"/>
              <a:t>Superpíxeles</a:t>
            </a:r>
            <a:r>
              <a:rPr lang="es-MX" dirty="0"/>
              <a:t>): La selección de un valor óptimo para el número de </a:t>
            </a:r>
            <a:r>
              <a:rPr lang="es-MX" dirty="0" err="1"/>
              <a:t>superpíxeles</a:t>
            </a:r>
            <a:r>
              <a:rPr lang="es-MX" dirty="0"/>
              <a:t> K sigue siendo una tarea desafiante, especialmente para usuarios inexpertos, ya que la calidad de la segmentación depende en gran medida de este factor.</a:t>
            </a:r>
            <a:endParaRPr lang="es-MX" dirty="0">
              <a:ea typeface="Calibri"/>
              <a:cs typeface="Calibri"/>
            </a:endParaRPr>
          </a:p>
          <a:p>
            <a:r>
              <a:rPr lang="es-MX" dirty="0"/>
              <a:t>• Métricas de Evaluación: Aún existe la necesidad de desarrollar métricas dedicadas de evaluación de segmentación de </a:t>
            </a:r>
            <a:r>
              <a:rPr lang="es-MX" dirty="0" err="1"/>
              <a:t>superpíxeles</a:t>
            </a:r>
            <a:r>
              <a:rPr lang="es-MX" dirty="0"/>
              <a:t> que se adapten a dominios especializados, como las imágenes hiperespectrales</a:t>
            </a:r>
            <a:endParaRPr lang="es-MX" dirty="0">
              <a:ea typeface="Calibri"/>
              <a:cs typeface="Calibri"/>
            </a:endParaRPr>
          </a:p>
        </p:txBody>
      </p:sp>
      <p:sp>
        <p:nvSpPr>
          <p:cNvPr id="4" name="Slide Number Placeholder 3"/>
          <p:cNvSpPr>
            <a:spLocks noGrp="1"/>
          </p:cNvSpPr>
          <p:nvPr>
            <p:ph type="sldNum" sz="quarter" idx="5"/>
          </p:nvPr>
        </p:nvSpPr>
        <p:spPr/>
        <p:txBody>
          <a:bodyPr/>
          <a:lstStyle/>
          <a:p>
            <a:fld id="{8A99C1F1-4140-4E04-8A14-2902985CB980}" type="slidenum">
              <a:rPr lang="en-US"/>
              <a:t>18</a:t>
            </a:fld>
            <a:endParaRPr lang="en-US"/>
          </a:p>
        </p:txBody>
      </p:sp>
    </p:spTree>
    <p:extLst>
      <p:ext uri="{BB962C8B-B14F-4D97-AF65-F5344CB8AC3E}">
        <p14:creationId xmlns:p14="http://schemas.microsoft.com/office/powerpoint/2010/main" val="39631938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Hacia </a:t>
            </a:r>
            <a:r>
              <a:rPr lang="en-US" err="1"/>
              <a:t>dónde</a:t>
            </a:r>
            <a:r>
              <a:rPr lang="en-US" dirty="0"/>
              <a:t> </a:t>
            </a:r>
            <a:r>
              <a:rPr lang="en-US" err="1"/>
              <a:t>va</a:t>
            </a:r>
            <a:r>
              <a:rPr lang="en-US" dirty="0"/>
              <a:t> </a:t>
            </a:r>
            <a:r>
              <a:rPr lang="en-US" err="1"/>
              <a:t>el</a:t>
            </a:r>
            <a:r>
              <a:rPr lang="en-US"/>
              <a:t> </a:t>
            </a:r>
            <a:r>
              <a:rPr lang="en-US" err="1"/>
              <a:t>uso</a:t>
            </a:r>
            <a:r>
              <a:rPr lang="en-US"/>
              <a:t> de </a:t>
            </a:r>
            <a:r>
              <a:rPr lang="en-US" err="1"/>
              <a:t>superpíxeles</a:t>
            </a:r>
            <a:r>
              <a:rPr lang="en-US"/>
              <a:t> (Deep Learning / Vision Transformers)</a:t>
            </a:r>
          </a:p>
          <a:p>
            <a:endParaRPr lang="en-US" dirty="0"/>
          </a:p>
          <a:p>
            <a:r>
              <a:rPr lang="en-US"/>
              <a:t>El </a:t>
            </a:r>
            <a:r>
              <a:rPr lang="en-US" err="1"/>
              <a:t>futuro</a:t>
            </a:r>
            <a:r>
              <a:rPr lang="en-US"/>
              <a:t> del uso de superpíxeles está estrechamente ligado a las arquitecturas de Deep Learning (Aprendizaje Profundo), ya que estas técnicas se están integrando para mejorar tanto la eficiencia como la calidad.</a:t>
            </a:r>
          </a:p>
          <a:p>
            <a:r>
              <a:rPr lang="en-US" dirty="0"/>
              <a:t>1. Redes </a:t>
            </a:r>
            <a:r>
              <a:rPr lang="en-US" dirty="0" err="1"/>
              <a:t>Convolucionales</a:t>
            </a:r>
            <a:r>
              <a:rPr lang="en-US" dirty="0"/>
              <a:t> (CNN) y </a:t>
            </a:r>
            <a:r>
              <a:rPr lang="en-US" dirty="0" err="1"/>
              <a:t>Módulos</a:t>
            </a:r>
            <a:r>
              <a:rPr lang="en-US" dirty="0"/>
              <a:t> </a:t>
            </a:r>
            <a:r>
              <a:rPr lang="en-US" dirty="0" err="1"/>
              <a:t>Diferenciables</a:t>
            </a:r>
            <a:r>
              <a:rPr lang="en-US" dirty="0"/>
              <a:t>: La </a:t>
            </a:r>
            <a:r>
              <a:rPr lang="en-US" dirty="0" err="1"/>
              <a:t>tendencia</a:t>
            </a:r>
            <a:r>
              <a:rPr lang="en-US" dirty="0"/>
              <a:t> es </a:t>
            </a:r>
            <a:r>
              <a:rPr lang="en-US" dirty="0" err="1"/>
              <a:t>utilizar</a:t>
            </a:r>
            <a:r>
              <a:rPr lang="en-US" dirty="0"/>
              <a:t> redes </a:t>
            </a:r>
            <a:r>
              <a:rPr lang="en-US" dirty="0" err="1"/>
              <a:t>neuronales</a:t>
            </a:r>
            <a:r>
              <a:rPr lang="en-US" dirty="0"/>
              <a:t> </a:t>
            </a:r>
            <a:r>
              <a:rPr lang="en-US" dirty="0" err="1"/>
              <a:t>profundas</a:t>
            </a:r>
            <a:r>
              <a:rPr lang="en-US" dirty="0"/>
              <a:t> </a:t>
            </a:r>
            <a:r>
              <a:rPr lang="en-US" dirty="0" err="1"/>
              <a:t>convolucionales</a:t>
            </a:r>
            <a:r>
              <a:rPr lang="en-US" dirty="0"/>
              <a:t> (CNN) </a:t>
            </a:r>
            <a:r>
              <a:rPr lang="en-US" dirty="0" err="1"/>
              <a:t>en</a:t>
            </a:r>
            <a:r>
              <a:rPr lang="en-US" dirty="0"/>
              <a:t> </a:t>
            </a:r>
            <a:r>
              <a:rPr lang="en-US" dirty="0" err="1"/>
              <a:t>el</a:t>
            </a:r>
            <a:r>
              <a:rPr lang="en-US" dirty="0"/>
              <a:t> paso de </a:t>
            </a:r>
            <a:r>
              <a:rPr lang="en-US" dirty="0" err="1"/>
              <a:t>procesamiento</a:t>
            </a:r>
            <a:r>
              <a:rPr lang="en-US" dirty="0"/>
              <a:t> principal. </a:t>
            </a:r>
            <a:r>
              <a:rPr lang="en-US" dirty="0" err="1"/>
              <a:t>Algunos</a:t>
            </a:r>
            <a:r>
              <a:rPr lang="en-US" dirty="0"/>
              <a:t> </a:t>
            </a:r>
            <a:r>
              <a:rPr lang="en-US" dirty="0" err="1"/>
              <a:t>enfoques</a:t>
            </a:r>
            <a:r>
              <a:rPr lang="en-US" dirty="0"/>
              <a:t> notables, </a:t>
            </a:r>
            <a:r>
              <a:rPr lang="en-US" dirty="0" err="1"/>
              <a:t>como</a:t>
            </a:r>
            <a:r>
              <a:rPr lang="en-US" dirty="0"/>
              <a:t> SSN o E2E-SIS, </a:t>
            </a:r>
            <a:r>
              <a:rPr lang="en-US" dirty="0" err="1"/>
              <a:t>superan</a:t>
            </a:r>
            <a:r>
              <a:rPr lang="en-US" dirty="0"/>
              <a:t> </a:t>
            </a:r>
            <a:r>
              <a:rPr lang="en-US" dirty="0" err="1"/>
              <a:t>el</a:t>
            </a:r>
            <a:r>
              <a:rPr lang="en-US" dirty="0"/>
              <a:t> </a:t>
            </a:r>
            <a:r>
              <a:rPr lang="en-US" dirty="0" err="1"/>
              <a:t>desafío</a:t>
            </a:r>
            <a:r>
              <a:rPr lang="en-US" dirty="0"/>
              <a:t> de </a:t>
            </a:r>
            <a:r>
              <a:rPr lang="en-US" dirty="0" err="1"/>
              <a:t>integrar</a:t>
            </a:r>
            <a:r>
              <a:rPr lang="en-US" dirty="0"/>
              <a:t> </a:t>
            </a:r>
            <a:r>
              <a:rPr lang="en-US" dirty="0" err="1"/>
              <a:t>los</a:t>
            </a:r>
            <a:r>
              <a:rPr lang="en-US" dirty="0"/>
              <a:t> </a:t>
            </a:r>
            <a:r>
              <a:rPr lang="en-US" dirty="0" err="1"/>
              <a:t>superpíxeles</a:t>
            </a:r>
            <a:r>
              <a:rPr lang="en-US" dirty="0"/>
              <a:t> (</a:t>
            </a:r>
            <a:r>
              <a:rPr lang="en-US" dirty="0" err="1"/>
              <a:t>que</a:t>
            </a:r>
            <a:r>
              <a:rPr lang="en-US" dirty="0"/>
              <a:t> son </a:t>
            </a:r>
            <a:r>
              <a:rPr lang="en-US" dirty="0" err="1"/>
              <a:t>estructuras</a:t>
            </a:r>
            <a:r>
              <a:rPr lang="en-US" dirty="0"/>
              <a:t> </a:t>
            </a:r>
            <a:r>
              <a:rPr lang="en-US" dirty="0" err="1"/>
              <a:t>irregulares</a:t>
            </a:r>
            <a:r>
              <a:rPr lang="en-US" dirty="0"/>
              <a:t>) </a:t>
            </a:r>
            <a:r>
              <a:rPr lang="en-US" dirty="0" err="1"/>
              <a:t>en</a:t>
            </a:r>
            <a:r>
              <a:rPr lang="en-US" dirty="0"/>
              <a:t> </a:t>
            </a:r>
            <a:r>
              <a:rPr lang="en-US" dirty="0" err="1"/>
              <a:t>el</a:t>
            </a:r>
            <a:r>
              <a:rPr lang="en-US" dirty="0"/>
              <a:t> </a:t>
            </a:r>
            <a:r>
              <a:rPr lang="en-US" dirty="0" err="1"/>
              <a:t>entrenamiento</a:t>
            </a:r>
            <a:r>
              <a:rPr lang="en-US" dirty="0"/>
              <a:t> de CNNs (</a:t>
            </a:r>
            <a:r>
              <a:rPr lang="en-US" dirty="0" err="1"/>
              <a:t>que</a:t>
            </a:r>
            <a:r>
              <a:rPr lang="en-US" dirty="0"/>
              <a:t> </a:t>
            </a:r>
            <a:r>
              <a:rPr lang="en-US" dirty="0" err="1"/>
              <a:t>usan</a:t>
            </a:r>
            <a:r>
              <a:rPr lang="en-US" dirty="0"/>
              <a:t> </a:t>
            </a:r>
            <a:r>
              <a:rPr lang="en-US" dirty="0" err="1"/>
              <a:t>cuadrículas</a:t>
            </a:r>
            <a:r>
              <a:rPr lang="en-US" dirty="0"/>
              <a:t> </a:t>
            </a:r>
            <a:r>
              <a:rPr lang="en-US" dirty="0" err="1"/>
              <a:t>regulares</a:t>
            </a:r>
            <a:r>
              <a:rPr lang="en-US" dirty="0"/>
              <a:t>) </a:t>
            </a:r>
            <a:r>
              <a:rPr lang="en-US" dirty="0" err="1"/>
              <a:t>proponiendo</a:t>
            </a:r>
            <a:r>
              <a:rPr lang="en-US" dirty="0"/>
              <a:t> </a:t>
            </a:r>
            <a:r>
              <a:rPr lang="en-US" dirty="0" err="1"/>
              <a:t>módulos</a:t>
            </a:r>
            <a:r>
              <a:rPr lang="en-US" dirty="0"/>
              <a:t> de clustering </a:t>
            </a:r>
            <a:r>
              <a:rPr lang="en-US" dirty="0" err="1"/>
              <a:t>diferenciables</a:t>
            </a:r>
            <a:r>
              <a:rPr lang="en-US" dirty="0"/>
              <a:t>.</a:t>
            </a:r>
          </a:p>
          <a:p>
            <a:r>
              <a:rPr lang="en-US" dirty="0"/>
              <a:t>2. </a:t>
            </a:r>
            <a:r>
              <a:rPr lang="en-US" dirty="0" err="1"/>
              <a:t>Entrenamiento</a:t>
            </a:r>
            <a:r>
              <a:rPr lang="en-US" dirty="0"/>
              <a:t> de Extremo a Extremo (End-to-End): Las redes </a:t>
            </a:r>
            <a:r>
              <a:rPr lang="en-US" dirty="0" err="1"/>
              <a:t>profundas</a:t>
            </a:r>
            <a:r>
              <a:rPr lang="en-US" dirty="0"/>
              <a:t> </a:t>
            </a:r>
            <a:r>
              <a:rPr lang="en-US" dirty="0" err="1"/>
              <a:t>permiten</a:t>
            </a:r>
            <a:r>
              <a:rPr lang="en-US" dirty="0"/>
              <a:t> pipelines </a:t>
            </a:r>
            <a:r>
              <a:rPr lang="en-US" dirty="0" err="1"/>
              <a:t>entrenables</a:t>
            </a:r>
            <a:r>
              <a:rPr lang="en-US" dirty="0"/>
              <a:t> de extremo a extremo </a:t>
            </a:r>
            <a:r>
              <a:rPr lang="en-US" dirty="0" err="1"/>
              <a:t>que</a:t>
            </a:r>
            <a:r>
              <a:rPr lang="en-US" dirty="0"/>
              <a:t> </a:t>
            </a:r>
            <a:r>
              <a:rPr lang="en-US" dirty="0" err="1"/>
              <a:t>predicen</a:t>
            </a:r>
            <a:r>
              <a:rPr lang="en-US" dirty="0"/>
              <a:t> </a:t>
            </a:r>
            <a:r>
              <a:rPr lang="en-US" dirty="0" err="1"/>
              <a:t>directamente</a:t>
            </a:r>
            <a:r>
              <a:rPr lang="en-US" dirty="0"/>
              <a:t> las </a:t>
            </a:r>
            <a:r>
              <a:rPr lang="en-US" dirty="0" err="1"/>
              <a:t>asociaciones</a:t>
            </a:r>
            <a:r>
              <a:rPr lang="en-US" dirty="0"/>
              <a:t> </a:t>
            </a:r>
            <a:r>
              <a:rPr lang="en-US" dirty="0" err="1"/>
              <a:t>píxel-superpíxel</a:t>
            </a:r>
            <a:r>
              <a:rPr lang="en-US" dirty="0"/>
              <a:t> (a menudo </a:t>
            </a:r>
            <a:r>
              <a:rPr lang="en-US" dirty="0" err="1"/>
              <a:t>asignaciones</a:t>
            </a:r>
            <a:r>
              <a:rPr lang="en-US" dirty="0"/>
              <a:t> </a:t>
            </a:r>
            <a:r>
              <a:rPr lang="en-US" dirty="0" err="1"/>
              <a:t>suaves</a:t>
            </a:r>
            <a:r>
              <a:rPr lang="en-US" dirty="0"/>
              <a:t>, </a:t>
            </a:r>
            <a:r>
              <a:rPr lang="en-US" dirty="0" err="1"/>
              <a:t>que</a:t>
            </a:r>
            <a:r>
              <a:rPr lang="en-US" dirty="0"/>
              <a:t> </a:t>
            </a:r>
            <a:r>
              <a:rPr lang="en-US" dirty="0" err="1"/>
              <a:t>requieren</a:t>
            </a:r>
            <a:r>
              <a:rPr lang="en-US" dirty="0"/>
              <a:t> post-</a:t>
            </a:r>
            <a:r>
              <a:rPr lang="en-US" dirty="0" err="1"/>
              <a:t>procesamiento</a:t>
            </a:r>
            <a:r>
              <a:rPr lang="en-US" dirty="0"/>
              <a:t> para la </a:t>
            </a:r>
            <a:r>
              <a:rPr lang="en-US" dirty="0" err="1"/>
              <a:t>asignación</a:t>
            </a:r>
            <a:r>
              <a:rPr lang="en-US" dirty="0"/>
              <a:t> dura). </a:t>
            </a:r>
            <a:r>
              <a:rPr lang="en-US" dirty="0" err="1"/>
              <a:t>Métodos</a:t>
            </a:r>
            <a:r>
              <a:rPr lang="en-US" dirty="0"/>
              <a:t> </a:t>
            </a:r>
            <a:r>
              <a:rPr lang="en-US" dirty="0" err="1"/>
              <a:t>como</a:t>
            </a:r>
            <a:r>
              <a:rPr lang="en-US" dirty="0"/>
              <a:t> SSFCN y AINET </a:t>
            </a:r>
            <a:r>
              <a:rPr lang="en-US" dirty="0" err="1"/>
              <a:t>utilizan</a:t>
            </a:r>
            <a:r>
              <a:rPr lang="en-US" dirty="0"/>
              <a:t> </a:t>
            </a:r>
            <a:r>
              <a:rPr lang="en-US" dirty="0" err="1"/>
              <a:t>arquitecturas</a:t>
            </a:r>
            <a:r>
              <a:rPr lang="en-US" dirty="0"/>
              <a:t> </a:t>
            </a:r>
            <a:r>
              <a:rPr lang="en-US" dirty="0" err="1"/>
              <a:t>en</a:t>
            </a:r>
            <a:r>
              <a:rPr lang="en-US" dirty="0"/>
              <a:t> forma de U (U-shaped) para </a:t>
            </a:r>
            <a:r>
              <a:rPr lang="en-US" dirty="0" err="1"/>
              <a:t>extraer</a:t>
            </a:r>
            <a:r>
              <a:rPr lang="en-US" dirty="0"/>
              <a:t> </a:t>
            </a:r>
            <a:r>
              <a:rPr lang="en-US" dirty="0" err="1"/>
              <a:t>características</a:t>
            </a:r>
            <a:r>
              <a:rPr lang="en-US" dirty="0"/>
              <a:t> y </a:t>
            </a:r>
            <a:r>
              <a:rPr lang="en-US" dirty="0" err="1"/>
              <a:t>generar</a:t>
            </a:r>
            <a:r>
              <a:rPr lang="en-US" dirty="0"/>
              <a:t> </a:t>
            </a:r>
            <a:r>
              <a:rPr lang="en-US" dirty="0" err="1"/>
              <a:t>mapas</a:t>
            </a:r>
            <a:r>
              <a:rPr lang="en-US" dirty="0"/>
              <a:t> de </a:t>
            </a:r>
            <a:r>
              <a:rPr lang="en-US" dirty="0" err="1"/>
              <a:t>asociación</a:t>
            </a:r>
            <a:r>
              <a:rPr lang="en-US" dirty="0"/>
              <a:t>.</a:t>
            </a:r>
          </a:p>
          <a:p>
            <a:r>
              <a:rPr lang="en-US" dirty="0"/>
              <a:t>3. </a:t>
            </a:r>
            <a:r>
              <a:rPr lang="en-US" dirty="0" err="1"/>
              <a:t>Superpíxeles</a:t>
            </a:r>
            <a:r>
              <a:rPr lang="en-US" dirty="0"/>
              <a:t> </a:t>
            </a:r>
            <a:r>
              <a:rPr lang="en-US" dirty="0" err="1"/>
              <a:t>como</a:t>
            </a:r>
            <a:r>
              <a:rPr lang="en-US" dirty="0"/>
              <a:t> </a:t>
            </a:r>
            <a:r>
              <a:rPr lang="en-US" dirty="0" err="1"/>
              <a:t>Primitivas</a:t>
            </a:r>
            <a:r>
              <a:rPr lang="en-US" dirty="0"/>
              <a:t> de Alto Nivel: Los </a:t>
            </a:r>
            <a:r>
              <a:rPr lang="en-US" dirty="0" err="1"/>
              <a:t>superpíxeles</a:t>
            </a:r>
            <a:r>
              <a:rPr lang="en-US" dirty="0"/>
              <a:t> se </a:t>
            </a:r>
            <a:r>
              <a:rPr lang="en-US" dirty="0" err="1"/>
              <a:t>utilizan</a:t>
            </a:r>
            <a:r>
              <a:rPr lang="en-US" dirty="0"/>
              <a:t> </a:t>
            </a:r>
            <a:r>
              <a:rPr lang="en-US" dirty="0" err="1"/>
              <a:t>cada</a:t>
            </a:r>
            <a:r>
              <a:rPr lang="en-US" dirty="0"/>
              <a:t> </a:t>
            </a:r>
            <a:r>
              <a:rPr lang="en-US" dirty="0" err="1"/>
              <a:t>vez</a:t>
            </a:r>
            <a:r>
              <a:rPr lang="en-US" dirty="0"/>
              <a:t> </a:t>
            </a:r>
            <a:r>
              <a:rPr lang="en-US" dirty="0" err="1"/>
              <a:t>más</a:t>
            </a:r>
            <a:r>
              <a:rPr lang="en-US" dirty="0"/>
              <a:t> para </a:t>
            </a:r>
            <a:r>
              <a:rPr lang="en-US" dirty="0" err="1"/>
              <a:t>extraer</a:t>
            </a:r>
            <a:r>
              <a:rPr lang="en-US" dirty="0"/>
              <a:t> </a:t>
            </a:r>
            <a:r>
              <a:rPr lang="en-US" dirty="0" err="1"/>
              <a:t>características</a:t>
            </a:r>
            <a:r>
              <a:rPr lang="en-US" dirty="0"/>
              <a:t> de alto </a:t>
            </a:r>
            <a:r>
              <a:rPr lang="en-US" dirty="0" err="1"/>
              <a:t>nivel</a:t>
            </a:r>
            <a:r>
              <a:rPr lang="en-US" dirty="0"/>
              <a:t> (</a:t>
            </a:r>
            <a:r>
              <a:rPr lang="en-US" dirty="0" err="1"/>
              <a:t>como</a:t>
            </a:r>
            <a:r>
              <a:rPr lang="en-US" dirty="0"/>
              <a:t> </a:t>
            </a:r>
            <a:r>
              <a:rPr lang="en-US" dirty="0" err="1"/>
              <a:t>mapas</a:t>
            </a:r>
            <a:r>
              <a:rPr lang="en-US" dirty="0"/>
              <a:t> de </a:t>
            </a:r>
            <a:r>
              <a:rPr lang="en-US" dirty="0" err="1"/>
              <a:t>afinidad</a:t>
            </a:r>
            <a:r>
              <a:rPr lang="en-US" dirty="0"/>
              <a:t> profunda) antes de </a:t>
            </a:r>
            <a:r>
              <a:rPr lang="en-US" dirty="0" err="1"/>
              <a:t>que</a:t>
            </a:r>
            <a:r>
              <a:rPr lang="en-US" dirty="0"/>
              <a:t> se </a:t>
            </a:r>
            <a:r>
              <a:rPr lang="en-US" dirty="0" err="1"/>
              <a:t>alimenten</a:t>
            </a:r>
            <a:r>
              <a:rPr lang="en-US" dirty="0"/>
              <a:t> a un </a:t>
            </a:r>
            <a:r>
              <a:rPr lang="en-US" dirty="0" err="1"/>
              <a:t>módulo</a:t>
            </a:r>
            <a:r>
              <a:rPr lang="en-US" dirty="0"/>
              <a:t> de clustering </a:t>
            </a:r>
            <a:r>
              <a:rPr lang="en-US" dirty="0" err="1"/>
              <a:t>tradicional</a:t>
            </a:r>
            <a:r>
              <a:rPr lang="en-US" dirty="0"/>
              <a:t> (</a:t>
            </a:r>
            <a:r>
              <a:rPr lang="en-US" dirty="0" err="1"/>
              <a:t>como</a:t>
            </a:r>
            <a:r>
              <a:rPr lang="en-US" dirty="0"/>
              <a:t> </a:t>
            </a:r>
            <a:r>
              <a:rPr lang="en-US" dirty="0" err="1"/>
              <a:t>en</a:t>
            </a:r>
            <a:r>
              <a:rPr lang="en-US" dirty="0"/>
              <a:t> DAL-HERS).</a:t>
            </a:r>
          </a:p>
          <a:p>
            <a:r>
              <a:rPr lang="en-US" dirty="0"/>
              <a:t>4. </a:t>
            </a:r>
            <a:r>
              <a:rPr lang="en-US" dirty="0" err="1"/>
              <a:t>Enfoques</a:t>
            </a:r>
            <a:r>
              <a:rPr lang="en-US" dirty="0"/>
              <a:t> No </a:t>
            </a:r>
            <a:r>
              <a:rPr lang="en-US" dirty="0" err="1"/>
              <a:t>Supervisados</a:t>
            </a:r>
            <a:r>
              <a:rPr lang="en-US" dirty="0"/>
              <a:t>/Sin Ground Truth: </a:t>
            </a:r>
            <a:r>
              <a:rPr lang="en-US" dirty="0" err="1"/>
              <a:t>Algunas</a:t>
            </a:r>
            <a:r>
              <a:rPr lang="en-US" dirty="0"/>
              <a:t> </a:t>
            </a:r>
            <a:r>
              <a:rPr lang="en-US" dirty="0" err="1"/>
              <a:t>propuestas</a:t>
            </a:r>
            <a:r>
              <a:rPr lang="en-US" dirty="0"/>
              <a:t>, </a:t>
            </a:r>
            <a:r>
              <a:rPr lang="en-US" dirty="0" err="1"/>
              <a:t>como</a:t>
            </a:r>
            <a:r>
              <a:rPr lang="en-US" dirty="0"/>
              <a:t> </a:t>
            </a:r>
            <a:r>
              <a:rPr lang="en-US" dirty="0" err="1"/>
              <a:t>los</a:t>
            </a:r>
            <a:r>
              <a:rPr lang="en-US" dirty="0"/>
              <a:t> </a:t>
            </a:r>
            <a:r>
              <a:rPr lang="en-US" dirty="0" err="1"/>
              <a:t>métodos</a:t>
            </a:r>
            <a:r>
              <a:rPr lang="en-US" dirty="0"/>
              <a:t> </a:t>
            </a:r>
            <a:r>
              <a:rPr lang="en-US" dirty="0" err="1"/>
              <a:t>basados</a:t>
            </a:r>
            <a:r>
              <a:rPr lang="en-US" dirty="0"/>
              <a:t> </a:t>
            </a:r>
            <a:r>
              <a:rPr lang="en-US" dirty="0" err="1"/>
              <a:t>en</a:t>
            </a:r>
            <a:r>
              <a:rPr lang="en-US" dirty="0"/>
              <a:t> RIM (Regularized Information Maximization), </a:t>
            </a:r>
            <a:r>
              <a:rPr lang="en-US" dirty="0" err="1"/>
              <a:t>utilizan</a:t>
            </a:r>
            <a:r>
              <a:rPr lang="en-US" dirty="0"/>
              <a:t> </a:t>
            </a:r>
            <a:r>
              <a:rPr lang="en-US" dirty="0" err="1"/>
              <a:t>el</a:t>
            </a:r>
            <a:r>
              <a:rPr lang="en-US" dirty="0"/>
              <a:t> </a:t>
            </a:r>
            <a:r>
              <a:rPr lang="en-US" dirty="0" err="1"/>
              <a:t>procedimiento</a:t>
            </a:r>
            <a:r>
              <a:rPr lang="en-US" dirty="0"/>
              <a:t> deep image prior para </a:t>
            </a:r>
            <a:r>
              <a:rPr lang="en-US" dirty="0" err="1"/>
              <a:t>generar</a:t>
            </a:r>
            <a:r>
              <a:rPr lang="en-US" dirty="0"/>
              <a:t> </a:t>
            </a:r>
            <a:r>
              <a:rPr lang="en-US" dirty="0" err="1"/>
              <a:t>superpíxeles</a:t>
            </a:r>
            <a:r>
              <a:rPr lang="en-US" dirty="0"/>
              <a:t> sin </a:t>
            </a:r>
            <a:r>
              <a:rPr lang="en-US" dirty="0" err="1"/>
              <a:t>necesidad</a:t>
            </a:r>
            <a:r>
              <a:rPr lang="en-US" dirty="0"/>
              <a:t> de un ground truth de imagen.</a:t>
            </a:r>
          </a:p>
          <a:p>
            <a:r>
              <a:rPr lang="en-US" dirty="0"/>
              <a:t>En </a:t>
            </a:r>
            <a:r>
              <a:rPr lang="en-US" dirty="0" err="1"/>
              <a:t>esencia</a:t>
            </a:r>
            <a:r>
              <a:rPr lang="en-US" dirty="0"/>
              <a:t>, </a:t>
            </a:r>
            <a:r>
              <a:rPr lang="en-US" dirty="0" err="1"/>
              <a:t>el</a:t>
            </a:r>
            <a:r>
              <a:rPr lang="en-US" dirty="0"/>
              <a:t> </a:t>
            </a:r>
            <a:r>
              <a:rPr lang="en-US" dirty="0" err="1"/>
              <a:t>uso</a:t>
            </a:r>
            <a:r>
              <a:rPr lang="en-US" dirty="0"/>
              <a:t> de </a:t>
            </a:r>
            <a:r>
              <a:rPr lang="en-US" dirty="0" err="1"/>
              <a:t>superpíxeles</a:t>
            </a:r>
            <a:r>
              <a:rPr lang="en-US" dirty="0"/>
              <a:t> </a:t>
            </a:r>
            <a:r>
              <a:rPr lang="en-US" dirty="0" err="1"/>
              <a:t>está</a:t>
            </a:r>
            <a:r>
              <a:rPr lang="en-US" dirty="0"/>
              <a:t> </a:t>
            </a:r>
            <a:r>
              <a:rPr lang="en-US" dirty="0" err="1"/>
              <a:t>evolucionando</a:t>
            </a:r>
            <a:r>
              <a:rPr lang="en-US" dirty="0"/>
              <a:t> de ser </a:t>
            </a:r>
            <a:r>
              <a:rPr lang="en-US" dirty="0" err="1"/>
              <a:t>una</a:t>
            </a:r>
            <a:r>
              <a:rPr lang="en-US" dirty="0"/>
              <a:t> simple </a:t>
            </a:r>
            <a:r>
              <a:rPr lang="en-US" dirty="0" err="1"/>
              <a:t>técnica</a:t>
            </a:r>
            <a:r>
              <a:rPr lang="en-US" dirty="0"/>
              <a:t> de </a:t>
            </a:r>
            <a:r>
              <a:rPr lang="en-US" dirty="0" err="1"/>
              <a:t>preprocesamiento</a:t>
            </a:r>
            <a:r>
              <a:rPr lang="en-US" dirty="0"/>
              <a:t> a un </a:t>
            </a:r>
            <a:r>
              <a:rPr lang="en-US" dirty="0" err="1"/>
              <a:t>componente</a:t>
            </a:r>
            <a:r>
              <a:rPr lang="en-US" dirty="0"/>
              <a:t> integral </a:t>
            </a:r>
            <a:r>
              <a:rPr lang="en-US" dirty="0" err="1"/>
              <a:t>dentro</a:t>
            </a:r>
            <a:r>
              <a:rPr lang="en-US" dirty="0"/>
              <a:t> de las </a:t>
            </a:r>
            <a:r>
              <a:rPr lang="en-US" dirty="0" err="1"/>
              <a:t>arquitecturas</a:t>
            </a:r>
            <a:r>
              <a:rPr lang="en-US" dirty="0"/>
              <a:t> de </a:t>
            </a:r>
            <a:r>
              <a:rPr lang="en-US" dirty="0" err="1"/>
              <a:t>aprendizaje</a:t>
            </a:r>
            <a:r>
              <a:rPr lang="en-US" dirty="0"/>
              <a:t> profundo, lo </a:t>
            </a:r>
            <a:r>
              <a:rPr lang="en-US" dirty="0" err="1"/>
              <a:t>que</a:t>
            </a:r>
            <a:r>
              <a:rPr lang="en-US" dirty="0"/>
              <a:t> </a:t>
            </a:r>
            <a:r>
              <a:rPr lang="en-US" dirty="0" err="1"/>
              <a:t>permite</a:t>
            </a:r>
            <a:r>
              <a:rPr lang="en-US" dirty="0"/>
              <a:t> </a:t>
            </a:r>
            <a:r>
              <a:rPr lang="en-US" dirty="0" err="1"/>
              <a:t>una</a:t>
            </a:r>
            <a:r>
              <a:rPr lang="en-US" dirty="0"/>
              <a:t> </a:t>
            </a:r>
            <a:r>
              <a:rPr lang="en-US" dirty="0" err="1"/>
              <a:t>segmentación</a:t>
            </a:r>
            <a:r>
              <a:rPr lang="en-US" dirty="0"/>
              <a:t> </a:t>
            </a:r>
            <a:r>
              <a:rPr lang="en-US" dirty="0" err="1"/>
              <a:t>más</a:t>
            </a:r>
            <a:r>
              <a:rPr lang="en-US" dirty="0"/>
              <a:t> </a:t>
            </a:r>
            <a:r>
              <a:rPr lang="en-US" dirty="0" err="1"/>
              <a:t>rápida</a:t>
            </a:r>
            <a:r>
              <a:rPr lang="en-US" dirty="0"/>
              <a:t> y </a:t>
            </a:r>
            <a:r>
              <a:rPr lang="en-US" dirty="0" err="1"/>
              <a:t>precisa</a:t>
            </a:r>
            <a:r>
              <a:rPr lang="en-US" dirty="0"/>
              <a:t>, </a:t>
            </a:r>
            <a:r>
              <a:rPr lang="en-US" dirty="0" err="1"/>
              <a:t>especialmente</a:t>
            </a:r>
            <a:r>
              <a:rPr lang="en-US" dirty="0"/>
              <a:t> </a:t>
            </a:r>
            <a:r>
              <a:rPr lang="en-US" dirty="0" err="1"/>
              <a:t>en</a:t>
            </a:r>
            <a:r>
              <a:rPr lang="en-US" dirty="0"/>
              <a:t> </a:t>
            </a:r>
            <a:r>
              <a:rPr lang="en-US" dirty="0" err="1"/>
              <a:t>escenarios</a:t>
            </a:r>
            <a:r>
              <a:rPr lang="en-US" dirty="0"/>
              <a:t> </a:t>
            </a:r>
            <a:r>
              <a:rPr lang="en-US" dirty="0" err="1"/>
              <a:t>que</a:t>
            </a:r>
            <a:r>
              <a:rPr lang="en-US" dirty="0"/>
              <a:t> </a:t>
            </a:r>
            <a:r>
              <a:rPr lang="en-US" dirty="0" err="1"/>
              <a:t>requieren</a:t>
            </a:r>
            <a:r>
              <a:rPr lang="en-US" dirty="0"/>
              <a:t> </a:t>
            </a:r>
            <a:r>
              <a:rPr lang="en-US" dirty="0" err="1"/>
              <a:t>tiempo</a:t>
            </a:r>
            <a:r>
              <a:rPr lang="en-US" dirty="0"/>
              <a:t> real.</a:t>
            </a: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8A99C1F1-4140-4E04-8A14-2902985CB980}" type="slidenum">
              <a:rPr lang="en-US"/>
              <a:t>19</a:t>
            </a:fld>
            <a:endParaRPr lang="en-US"/>
          </a:p>
        </p:txBody>
      </p:sp>
    </p:spTree>
    <p:extLst>
      <p:ext uri="{BB962C8B-B14F-4D97-AF65-F5344CB8AC3E}">
        <p14:creationId xmlns:p14="http://schemas.microsoft.com/office/powerpoint/2010/main" val="33535126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11/16/2025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11/16/2025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11/16/2025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11/16/2025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34F1179-B481-4F9E-BCA3-AFB972070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285241" y="1008993"/>
            <a:ext cx="9231410" cy="3542045"/>
          </a:xfrm>
        </p:spPr>
        <p:txBody>
          <a:bodyPr anchor="b">
            <a:normAutofit/>
          </a:bodyPr>
          <a:lstStyle/>
          <a:p>
            <a:pPr algn="l"/>
            <a:r>
              <a:rPr lang="es-MX" sz="8100"/>
              <a:t>Visión Computacional - Superpixels</a:t>
            </a:r>
          </a:p>
        </p:txBody>
      </p:sp>
      <p:sp>
        <p:nvSpPr>
          <p:cNvPr id="3" name="Subtitle 2"/>
          <p:cNvSpPr>
            <a:spLocks noGrp="1"/>
          </p:cNvSpPr>
          <p:nvPr>
            <p:ph type="subTitle" idx="1"/>
          </p:nvPr>
        </p:nvSpPr>
        <p:spPr>
          <a:xfrm>
            <a:off x="1285241" y="4582814"/>
            <a:ext cx="7132335" cy="1312657"/>
          </a:xfrm>
        </p:spPr>
        <p:txBody>
          <a:bodyPr vert="horz" lIns="91440" tIns="45720" rIns="91440" bIns="45720" rtlCol="0" anchor="t">
            <a:normAutofit/>
          </a:bodyPr>
          <a:lstStyle/>
          <a:p>
            <a:pPr algn="l"/>
            <a:r>
              <a:rPr lang="en-US" sz="2200">
                <a:ea typeface="+mn-lt"/>
                <a:cs typeface="+mn-lt"/>
              </a:rPr>
              <a:t>Equipo 37</a:t>
            </a:r>
            <a:endParaRPr lang="en-US" sz="2200"/>
          </a:p>
          <a:p>
            <a:pPr algn="l"/>
            <a:r>
              <a:rPr lang="en-US" sz="2200">
                <a:ea typeface="+mn-lt"/>
                <a:cs typeface="+mn-lt"/>
              </a:rPr>
              <a:t>- Jorge Luis </a:t>
            </a:r>
            <a:r>
              <a:rPr lang="en-US" sz="2200" err="1">
                <a:ea typeface="+mn-lt"/>
                <a:cs typeface="+mn-lt"/>
              </a:rPr>
              <a:t>Ancheyta</a:t>
            </a:r>
            <a:r>
              <a:rPr lang="en-US" sz="2200">
                <a:ea typeface="+mn-lt"/>
                <a:cs typeface="+mn-lt"/>
              </a:rPr>
              <a:t> Segovia - A01796354</a:t>
            </a:r>
            <a:endParaRPr lang="en-US" sz="2200"/>
          </a:p>
          <a:p>
            <a:pPr algn="l"/>
            <a:r>
              <a:rPr lang="en-US" sz="2200">
                <a:ea typeface="+mn-lt"/>
                <a:cs typeface="+mn-lt"/>
              </a:rPr>
              <a:t>- Omar Aguilar Macedo - A01797078</a:t>
            </a:r>
            <a:endParaRPr lang="en-US" sz="2200"/>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9B8225-799B-D62C-3ED2-E19E9C0E5049}"/>
              </a:ext>
            </a:extLst>
          </p:cNvPr>
          <p:cNvSpPr>
            <a:spLocks noGrp="1"/>
          </p:cNvSpPr>
          <p:nvPr>
            <p:ph type="title"/>
          </p:nvPr>
        </p:nvSpPr>
        <p:spPr>
          <a:xfrm>
            <a:off x="1285240" y="1050595"/>
            <a:ext cx="8074815" cy="1618489"/>
          </a:xfrm>
        </p:spPr>
        <p:txBody>
          <a:bodyPr anchor="ctr">
            <a:normAutofit/>
          </a:bodyPr>
          <a:lstStyle/>
          <a:p>
            <a:r>
              <a:rPr lang="es-MX" sz="7200" dirty="0"/>
              <a:t>Introducción</a:t>
            </a:r>
          </a:p>
        </p:txBody>
      </p:sp>
      <p:sp>
        <p:nvSpPr>
          <p:cNvPr id="3" name="Content Placeholder 2">
            <a:extLst>
              <a:ext uri="{FF2B5EF4-FFF2-40B4-BE49-F238E27FC236}">
                <a16:creationId xmlns:a16="http://schemas.microsoft.com/office/drawing/2014/main" id="{2C1CE948-06B0-2853-68FB-D5708F4B2140}"/>
              </a:ext>
            </a:extLst>
          </p:cNvPr>
          <p:cNvSpPr>
            <a:spLocks noGrp="1"/>
          </p:cNvSpPr>
          <p:nvPr>
            <p:ph idx="1"/>
          </p:nvPr>
        </p:nvSpPr>
        <p:spPr>
          <a:xfrm>
            <a:off x="1285240" y="2969469"/>
            <a:ext cx="8074815" cy="2800395"/>
          </a:xfrm>
        </p:spPr>
        <p:txBody>
          <a:bodyPr anchor="t">
            <a:normAutofit/>
          </a:bodyPr>
          <a:lstStyle/>
          <a:p>
            <a:endParaRPr lang="en-US" sz="2400"/>
          </a:p>
        </p:txBody>
      </p:sp>
    </p:spTree>
    <p:extLst>
      <p:ext uri="{BB962C8B-B14F-4D97-AF65-F5344CB8AC3E}">
        <p14:creationId xmlns:p14="http://schemas.microsoft.com/office/powerpoint/2010/main" val="34573071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49FB5C3-7336-4FE0-A30C-CC0A3646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4" name="Rectangle 13">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D893B185-5935-1328-2DF1-099C2E0E1404}"/>
              </a:ext>
            </a:extLst>
          </p:cNvPr>
          <p:cNvSpPr>
            <a:spLocks noGrp="1"/>
          </p:cNvSpPr>
          <p:nvPr>
            <p:ph type="title"/>
          </p:nvPr>
        </p:nvSpPr>
        <p:spPr>
          <a:xfrm>
            <a:off x="1057025" y="922644"/>
            <a:ext cx="5040285" cy="1169585"/>
          </a:xfrm>
        </p:spPr>
        <p:txBody>
          <a:bodyPr anchor="b">
            <a:normAutofit/>
          </a:bodyPr>
          <a:lstStyle/>
          <a:p>
            <a:r>
              <a:rPr lang="es-MX" sz="4000"/>
              <a:t>¿Qué es un superpíxel?</a:t>
            </a:r>
          </a:p>
        </p:txBody>
      </p:sp>
      <p:sp>
        <p:nvSpPr>
          <p:cNvPr id="12" name="Rectangle 11">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921B978-819A-953A-5388-D4C856F13C14}"/>
              </a:ext>
            </a:extLst>
          </p:cNvPr>
          <p:cNvSpPr>
            <a:spLocks noGrp="1"/>
          </p:cNvSpPr>
          <p:nvPr>
            <p:ph idx="1"/>
          </p:nvPr>
        </p:nvSpPr>
        <p:spPr>
          <a:xfrm>
            <a:off x="1055715" y="2508105"/>
            <a:ext cx="5040285" cy="3632493"/>
          </a:xfrm>
        </p:spPr>
        <p:txBody>
          <a:bodyPr vert="horz" lIns="91440" tIns="45720" rIns="91440" bIns="45720" rtlCol="0" anchor="ctr">
            <a:normAutofit/>
          </a:bodyPr>
          <a:lstStyle/>
          <a:p>
            <a:r>
              <a:rPr lang="es-MX" sz="2000"/>
              <a:t>Es un conjunto de píxeles contiguos con características similares, (color, brillo o textura), juntos representan una región más coherente de la imagen.</a:t>
            </a:r>
          </a:p>
          <a:p>
            <a:r>
              <a:rPr lang="es-MX" sz="2000">
                <a:ea typeface="+mn-lt"/>
                <a:cs typeface="+mn-lt"/>
              </a:rPr>
              <a:t>Su objetivo es reemplazar la estructura rígida de la cuadrícula de píxeles por entidades visualmente significativas que forman una partición coherente. </a:t>
            </a:r>
          </a:p>
        </p:txBody>
      </p:sp>
      <p:pic>
        <p:nvPicPr>
          <p:cNvPr id="6" name="Picture 5" descr="A black and white image of a bear&#10;&#10;AI-generated content may be incorrect.">
            <a:extLst>
              <a:ext uri="{FF2B5EF4-FFF2-40B4-BE49-F238E27FC236}">
                <a16:creationId xmlns:a16="http://schemas.microsoft.com/office/drawing/2014/main" id="{03CC9F2A-734C-AFB8-C282-BBAF9C073CAC}"/>
              </a:ext>
            </a:extLst>
          </p:cNvPr>
          <p:cNvPicPr>
            <a:picLocks noChangeAspect="1"/>
          </p:cNvPicPr>
          <p:nvPr/>
        </p:nvPicPr>
        <p:blipFill>
          <a:blip r:embed="rId3"/>
          <a:stretch>
            <a:fillRect/>
          </a:stretch>
        </p:blipFill>
        <p:spPr>
          <a:xfrm>
            <a:off x="7205347" y="774285"/>
            <a:ext cx="3871759" cy="2581173"/>
          </a:xfrm>
          <a:prstGeom prst="rect">
            <a:avLst/>
          </a:prstGeom>
        </p:spPr>
      </p:pic>
      <p:pic>
        <p:nvPicPr>
          <p:cNvPr id="4" name="Picture 3" descr="A black bear standing on rocks&#10;&#10;AI-generated content may be incorrect.">
            <a:extLst>
              <a:ext uri="{FF2B5EF4-FFF2-40B4-BE49-F238E27FC236}">
                <a16:creationId xmlns:a16="http://schemas.microsoft.com/office/drawing/2014/main" id="{D1D1FFE6-4956-FC11-F6DA-46C7CBC0E64B}"/>
              </a:ext>
            </a:extLst>
          </p:cNvPr>
          <p:cNvPicPr>
            <a:picLocks noChangeAspect="1"/>
          </p:cNvPicPr>
          <p:nvPr/>
        </p:nvPicPr>
        <p:blipFill>
          <a:blip r:embed="rId4"/>
          <a:stretch>
            <a:fillRect/>
          </a:stretch>
        </p:blipFill>
        <p:spPr>
          <a:xfrm>
            <a:off x="7205347" y="3575074"/>
            <a:ext cx="3871759" cy="2581173"/>
          </a:xfrm>
          <a:prstGeom prst="rect">
            <a:avLst/>
          </a:prstGeom>
        </p:spPr>
      </p:pic>
    </p:spTree>
    <p:extLst>
      <p:ext uri="{BB962C8B-B14F-4D97-AF65-F5344CB8AC3E}">
        <p14:creationId xmlns:p14="http://schemas.microsoft.com/office/powerpoint/2010/main" val="15750938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8FD9DF9-5269-9DB6-33BB-1E4D69D78411}"/>
            </a:ext>
          </a:extLst>
        </p:cNvPr>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149FB5C3-7336-4FE0-A30C-CC0A3646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oup 19">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21" name="Rectangle 20">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8B456C14-D8CB-829D-4430-152CC051EF0A}"/>
              </a:ext>
            </a:extLst>
          </p:cNvPr>
          <p:cNvSpPr>
            <a:spLocks noGrp="1"/>
          </p:cNvSpPr>
          <p:nvPr>
            <p:ph type="title"/>
          </p:nvPr>
        </p:nvSpPr>
        <p:spPr>
          <a:xfrm>
            <a:off x="1057025" y="922644"/>
            <a:ext cx="5040285" cy="1169585"/>
          </a:xfrm>
        </p:spPr>
        <p:txBody>
          <a:bodyPr anchor="b">
            <a:normAutofit/>
          </a:bodyPr>
          <a:lstStyle/>
          <a:p>
            <a:r>
              <a:rPr lang="es-MX" sz="4000"/>
              <a:t>Historia y Motivación</a:t>
            </a:r>
            <a:endParaRPr lang="en-US" sz="4000"/>
          </a:p>
        </p:txBody>
      </p:sp>
      <p:sp>
        <p:nvSpPr>
          <p:cNvPr id="26" name="Rectangle 25">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21089A4-33CB-787F-4654-2DE6AF8D64AF}"/>
              </a:ext>
            </a:extLst>
          </p:cNvPr>
          <p:cNvSpPr>
            <a:spLocks noGrp="1"/>
          </p:cNvSpPr>
          <p:nvPr>
            <p:ph idx="1"/>
          </p:nvPr>
        </p:nvSpPr>
        <p:spPr>
          <a:xfrm>
            <a:off x="1055715" y="2508105"/>
            <a:ext cx="5040285" cy="3632493"/>
          </a:xfrm>
        </p:spPr>
        <p:txBody>
          <a:bodyPr vert="horz" lIns="91440" tIns="45720" rIns="91440" bIns="45720" rtlCol="0" anchor="ctr">
            <a:normAutofit/>
          </a:bodyPr>
          <a:lstStyle/>
          <a:p>
            <a:r>
              <a:rPr lang="es-MX" sz="2000">
                <a:ea typeface="+mn-lt"/>
                <a:cs typeface="+mn-lt"/>
              </a:rPr>
              <a:t>Surgen para reducir el costo de segmentación y mejorar la precisión en bordes. </a:t>
            </a:r>
            <a:endParaRPr lang="en-US" sz="2000">
              <a:ea typeface="+mn-lt"/>
              <a:cs typeface="+mn-lt"/>
            </a:endParaRPr>
          </a:p>
          <a:p>
            <a:r>
              <a:rPr lang="es-MX" sz="2000">
                <a:ea typeface="+mn-lt"/>
                <a:cs typeface="+mn-lt"/>
              </a:rPr>
              <a:t>El término "superpíxel" fue acuñado en 2003 por Ren y Malik con la publicación de su trabajo "Learning a Classification Model for Segmentation" </a:t>
            </a:r>
          </a:p>
        </p:txBody>
      </p:sp>
      <p:pic>
        <p:nvPicPr>
          <p:cNvPr id="5" name="Picture 4" descr="A pyramid in the desert&#10;&#10;AI-generated content may be incorrect.">
            <a:extLst>
              <a:ext uri="{FF2B5EF4-FFF2-40B4-BE49-F238E27FC236}">
                <a16:creationId xmlns:a16="http://schemas.microsoft.com/office/drawing/2014/main" id="{3515FC79-8D6B-724A-E972-923000D57BA0}"/>
              </a:ext>
            </a:extLst>
          </p:cNvPr>
          <p:cNvPicPr>
            <a:picLocks noChangeAspect="1"/>
          </p:cNvPicPr>
          <p:nvPr/>
        </p:nvPicPr>
        <p:blipFill>
          <a:blip r:embed="rId3"/>
          <a:stretch>
            <a:fillRect/>
          </a:stretch>
        </p:blipFill>
        <p:spPr>
          <a:xfrm>
            <a:off x="7205347" y="774285"/>
            <a:ext cx="3871759" cy="2581173"/>
          </a:xfrm>
          <a:prstGeom prst="rect">
            <a:avLst/>
          </a:prstGeom>
        </p:spPr>
      </p:pic>
      <p:pic>
        <p:nvPicPr>
          <p:cNvPr id="4" name="Picture 3" descr="A group of pyramids in a desert&#10;&#10;AI-generated content may be incorrect.">
            <a:extLst>
              <a:ext uri="{FF2B5EF4-FFF2-40B4-BE49-F238E27FC236}">
                <a16:creationId xmlns:a16="http://schemas.microsoft.com/office/drawing/2014/main" id="{248E19B9-FBFA-0E69-E3D8-F3E8AD7EEBB3}"/>
              </a:ext>
            </a:extLst>
          </p:cNvPr>
          <p:cNvPicPr>
            <a:picLocks noChangeAspect="1"/>
          </p:cNvPicPr>
          <p:nvPr/>
        </p:nvPicPr>
        <p:blipFill>
          <a:blip r:embed="rId4"/>
          <a:stretch>
            <a:fillRect/>
          </a:stretch>
        </p:blipFill>
        <p:spPr>
          <a:xfrm>
            <a:off x="7205347" y="3575074"/>
            <a:ext cx="3871759" cy="2581173"/>
          </a:xfrm>
          <a:prstGeom prst="rect">
            <a:avLst/>
          </a:prstGeom>
        </p:spPr>
      </p:pic>
    </p:spTree>
    <p:extLst>
      <p:ext uri="{BB962C8B-B14F-4D97-AF65-F5344CB8AC3E}">
        <p14:creationId xmlns:p14="http://schemas.microsoft.com/office/powerpoint/2010/main" val="20412451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1A26D8-A1ED-3287-1C89-E053C50757B3}"/>
              </a:ext>
            </a:extLst>
          </p:cNvPr>
          <p:cNvSpPr>
            <a:spLocks noGrp="1"/>
          </p:cNvSpPr>
          <p:nvPr>
            <p:ph type="title"/>
          </p:nvPr>
        </p:nvSpPr>
        <p:spPr>
          <a:xfrm>
            <a:off x="645064" y="525982"/>
            <a:ext cx="4282983" cy="1200361"/>
          </a:xfrm>
        </p:spPr>
        <p:txBody>
          <a:bodyPr anchor="b">
            <a:normAutofit/>
          </a:bodyPr>
          <a:lstStyle/>
          <a:p>
            <a:r>
              <a:rPr lang="en-US" sz="3600"/>
              <a:t>Timeline</a:t>
            </a:r>
          </a:p>
        </p:txBody>
      </p:sp>
      <p:sp>
        <p:nvSpPr>
          <p:cNvPr id="15" name="Rectangle 14">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descr="A chart with colorful squares&#10;&#10;AI-generated content may be incorrect.">
            <a:extLst>
              <a:ext uri="{FF2B5EF4-FFF2-40B4-BE49-F238E27FC236}">
                <a16:creationId xmlns:a16="http://schemas.microsoft.com/office/drawing/2014/main" id="{CCD6A35A-EFBD-54B8-3E39-DA84C23D1A97}"/>
              </a:ext>
            </a:extLst>
          </p:cNvPr>
          <p:cNvPicPr>
            <a:picLocks noChangeAspect="1"/>
          </p:cNvPicPr>
          <p:nvPr/>
        </p:nvPicPr>
        <p:blipFill>
          <a:blip r:embed="rId2"/>
          <a:stretch>
            <a:fillRect/>
          </a:stretch>
        </p:blipFill>
        <p:spPr>
          <a:xfrm>
            <a:off x="2042701" y="1515668"/>
            <a:ext cx="8463814" cy="4770551"/>
          </a:xfrm>
          <a:prstGeom prst="rect">
            <a:avLst/>
          </a:prstGeom>
        </p:spPr>
      </p:pic>
    </p:spTree>
    <p:extLst>
      <p:ext uri="{BB962C8B-B14F-4D97-AF65-F5344CB8AC3E}">
        <p14:creationId xmlns:p14="http://schemas.microsoft.com/office/powerpoint/2010/main" val="10778452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CA50232-371F-7C11-FDE7-6A8F84A004E9}"/>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BC0E11-D68E-2E8A-D5ED-BE85B3FD3C1E}"/>
              </a:ext>
            </a:extLst>
          </p:cNvPr>
          <p:cNvSpPr>
            <a:spLocks noGrp="1"/>
          </p:cNvSpPr>
          <p:nvPr>
            <p:ph type="title"/>
          </p:nvPr>
        </p:nvSpPr>
        <p:spPr>
          <a:xfrm>
            <a:off x="793662" y="386930"/>
            <a:ext cx="10066122" cy="1298448"/>
          </a:xfrm>
        </p:spPr>
        <p:txBody>
          <a:bodyPr anchor="b">
            <a:normAutofit/>
          </a:bodyPr>
          <a:lstStyle/>
          <a:p>
            <a:r>
              <a:rPr lang="es-MX" sz="4800"/>
              <a:t>¿Por qué son útiles?</a:t>
            </a:r>
          </a:p>
        </p:txBody>
      </p:sp>
      <p:sp>
        <p:nvSpPr>
          <p:cNvPr id="13" name="Rectangle 12">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79709D9-60AA-3188-390A-1004467F5E7F}"/>
              </a:ext>
            </a:extLst>
          </p:cNvPr>
          <p:cNvSpPr>
            <a:spLocks noGrp="1"/>
          </p:cNvSpPr>
          <p:nvPr>
            <p:ph idx="1"/>
          </p:nvPr>
        </p:nvSpPr>
        <p:spPr>
          <a:xfrm>
            <a:off x="793661" y="2599509"/>
            <a:ext cx="4530898" cy="3639450"/>
          </a:xfrm>
        </p:spPr>
        <p:txBody>
          <a:bodyPr vert="horz" lIns="91440" tIns="45720" rIns="91440" bIns="45720" rtlCol="0" anchor="ctr">
            <a:normAutofit/>
          </a:bodyPr>
          <a:lstStyle/>
          <a:p>
            <a:r>
              <a:rPr lang="es-MX" sz="2000">
                <a:ea typeface="+mn-lt"/>
                <a:cs typeface="+mn-lt"/>
              </a:rPr>
              <a:t>Reducen drásticamente la complejidad computacional de las tareas de procesamiento de imágenes posteriores. </a:t>
            </a:r>
          </a:p>
          <a:p>
            <a:r>
              <a:rPr lang="es-MX" sz="2000">
                <a:ea typeface="+mn-lt"/>
                <a:cs typeface="+mn-lt"/>
              </a:rPr>
              <a:t>Los principales beneficios incluyen:</a:t>
            </a:r>
          </a:p>
          <a:p>
            <a:pPr lvl="1">
              <a:buFont typeface="Courier New" panose="020B0604020202020204" pitchFamily="34" charset="0"/>
              <a:buChar char="o"/>
            </a:pPr>
            <a:r>
              <a:rPr lang="es-MX" sz="2000"/>
              <a:t>Reducción de Carga de Trabajo</a:t>
            </a:r>
          </a:p>
          <a:p>
            <a:pPr lvl="1">
              <a:buFont typeface="Courier New" panose="020B0604020202020204" pitchFamily="34" charset="0"/>
              <a:buChar char="o"/>
            </a:pPr>
            <a:r>
              <a:rPr lang="es-MX" sz="2000"/>
              <a:t>Mejora del Rendimiento y Robustez</a:t>
            </a:r>
          </a:p>
          <a:p>
            <a:pPr lvl="1">
              <a:buFont typeface="Courier New" panose="020B0604020202020204" pitchFamily="34" charset="0"/>
              <a:buChar char="o"/>
            </a:pPr>
            <a:r>
              <a:rPr lang="es-MX" sz="2000"/>
              <a:t>Coherencia Visual</a:t>
            </a:r>
          </a:p>
        </p:txBody>
      </p:sp>
      <p:pic>
        <p:nvPicPr>
          <p:cNvPr id="6" name="Picture 5" descr="A mosaic of a church&#10;&#10;AI-generated content may be incorrect.">
            <a:extLst>
              <a:ext uri="{FF2B5EF4-FFF2-40B4-BE49-F238E27FC236}">
                <a16:creationId xmlns:a16="http://schemas.microsoft.com/office/drawing/2014/main" id="{52047467-58F8-0E8D-90BA-18D5483968D3}"/>
              </a:ext>
            </a:extLst>
          </p:cNvPr>
          <p:cNvPicPr>
            <a:picLocks noChangeAspect="1"/>
          </p:cNvPicPr>
          <p:nvPr/>
        </p:nvPicPr>
        <p:blipFill>
          <a:blip r:embed="rId3"/>
          <a:stretch>
            <a:fillRect/>
          </a:stretch>
        </p:blipFill>
        <p:spPr>
          <a:xfrm>
            <a:off x="5911532" y="2622472"/>
            <a:ext cx="5150277" cy="3437809"/>
          </a:xfrm>
          <a:prstGeom prst="rect">
            <a:avLst/>
          </a:prstGeom>
        </p:spPr>
      </p:pic>
      <p:sp>
        <p:nvSpPr>
          <p:cNvPr id="17" name="Rectangle 16">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454707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16133A5-A7E1-C5B8-CA1F-E82F68956A4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8A335A0-C5E4-8C7A-2DE3-F4970DFA7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6D2C9BA3-6A1B-1CAA-E197-F9192815C4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E9BCD87B-1E7F-4A83-A360-472170F7D1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41D8CE-7B23-DADE-5BB8-FA19588A5F6A}"/>
              </a:ext>
            </a:extLst>
          </p:cNvPr>
          <p:cNvSpPr>
            <a:spLocks noGrp="1"/>
          </p:cNvSpPr>
          <p:nvPr>
            <p:ph type="title"/>
          </p:nvPr>
        </p:nvSpPr>
        <p:spPr>
          <a:xfrm>
            <a:off x="1285240" y="1050595"/>
            <a:ext cx="8074815" cy="1618489"/>
          </a:xfrm>
        </p:spPr>
        <p:txBody>
          <a:bodyPr anchor="ctr">
            <a:normAutofit/>
          </a:bodyPr>
          <a:lstStyle/>
          <a:p>
            <a:r>
              <a:rPr lang="es-MX" sz="7200" dirty="0"/>
              <a:t>Fundamentos</a:t>
            </a:r>
          </a:p>
        </p:txBody>
      </p:sp>
      <p:sp>
        <p:nvSpPr>
          <p:cNvPr id="3" name="Content Placeholder 2">
            <a:extLst>
              <a:ext uri="{FF2B5EF4-FFF2-40B4-BE49-F238E27FC236}">
                <a16:creationId xmlns:a16="http://schemas.microsoft.com/office/drawing/2014/main" id="{6F4B066C-BC46-A70B-CF2D-6C0A7E656661}"/>
              </a:ext>
            </a:extLst>
          </p:cNvPr>
          <p:cNvSpPr>
            <a:spLocks noGrp="1"/>
          </p:cNvSpPr>
          <p:nvPr>
            <p:ph idx="1"/>
          </p:nvPr>
        </p:nvSpPr>
        <p:spPr>
          <a:xfrm>
            <a:off x="1285240" y="2969469"/>
            <a:ext cx="8074815" cy="2800395"/>
          </a:xfrm>
        </p:spPr>
        <p:txBody>
          <a:bodyPr anchor="t">
            <a:normAutofit/>
          </a:bodyPr>
          <a:lstStyle/>
          <a:p>
            <a:endParaRPr lang="en-US" sz="2400"/>
          </a:p>
        </p:txBody>
      </p:sp>
    </p:spTree>
    <p:extLst>
      <p:ext uri="{BB962C8B-B14F-4D97-AF65-F5344CB8AC3E}">
        <p14:creationId xmlns:p14="http://schemas.microsoft.com/office/powerpoint/2010/main" val="21140873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9F93505-6809-5852-E671-A8DAF5F26AB7}"/>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49FB5C3-7336-4FE0-A30C-CC0A3646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3" name="Rectangle 12">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370A12BF-511C-5A84-E674-E39543EDA6BC}"/>
              </a:ext>
            </a:extLst>
          </p:cNvPr>
          <p:cNvSpPr>
            <a:spLocks noGrp="1"/>
          </p:cNvSpPr>
          <p:nvPr>
            <p:ph type="title"/>
          </p:nvPr>
        </p:nvSpPr>
        <p:spPr>
          <a:xfrm>
            <a:off x="1057025" y="922644"/>
            <a:ext cx="5040285" cy="1169585"/>
          </a:xfrm>
        </p:spPr>
        <p:txBody>
          <a:bodyPr anchor="b">
            <a:normAutofit/>
          </a:bodyPr>
          <a:lstStyle/>
          <a:p>
            <a:r>
              <a:rPr lang="es-MX" sz="2500"/>
              <a:t>¿Cómo funcionan los superpixels?</a:t>
            </a:r>
          </a:p>
        </p:txBody>
      </p:sp>
      <p:sp>
        <p:nvSpPr>
          <p:cNvPr id="18" name="Rectangle 17">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C5BDDB8-08B7-6D2C-1E4B-E3E4DCAD026E}"/>
              </a:ext>
            </a:extLst>
          </p:cNvPr>
          <p:cNvSpPr>
            <a:spLocks noGrp="1"/>
          </p:cNvSpPr>
          <p:nvPr>
            <p:ph idx="1"/>
          </p:nvPr>
        </p:nvSpPr>
        <p:spPr>
          <a:xfrm>
            <a:off x="1055715" y="2508105"/>
            <a:ext cx="5078385" cy="3003843"/>
          </a:xfrm>
        </p:spPr>
        <p:txBody>
          <a:bodyPr vert="horz" lIns="91440" tIns="45720" rIns="91440" bIns="45720" rtlCol="0" anchor="ctr">
            <a:normAutofit/>
          </a:bodyPr>
          <a:lstStyle/>
          <a:p>
            <a:r>
              <a:rPr lang="es-MX" sz="2000" dirty="0">
                <a:ea typeface="+mn-lt"/>
                <a:cs typeface="+mn-lt"/>
              </a:rPr>
              <a:t>Se basan en un proceso de 2 pasos:</a:t>
            </a:r>
          </a:p>
          <a:p>
            <a:pPr lvl="1">
              <a:buFont typeface="Courier New" panose="020B0604020202020204" pitchFamily="34" charset="0"/>
              <a:buChar char="o"/>
            </a:pPr>
            <a:r>
              <a:rPr lang="es-MX" sz="2000" b="1" dirty="0">
                <a:ea typeface="+mn-lt"/>
                <a:cs typeface="+mn-lt"/>
              </a:rPr>
              <a:t>Inicialización:</a:t>
            </a:r>
            <a:r>
              <a:rPr lang="es-MX" sz="2000" dirty="0">
                <a:ea typeface="+mn-lt"/>
                <a:cs typeface="+mn-lt"/>
              </a:rPr>
              <a:t> Definen semillas o se establece una partición inicial. </a:t>
            </a:r>
          </a:p>
          <a:p>
            <a:pPr lvl="1">
              <a:buFont typeface="Courier New" panose="020B0604020202020204" pitchFamily="34" charset="0"/>
              <a:buChar char="o"/>
            </a:pPr>
            <a:r>
              <a:rPr lang="es-MX" sz="2000" b="1">
                <a:ea typeface="+mn-lt"/>
                <a:cs typeface="+mn-lt"/>
              </a:rPr>
              <a:t>Asignación/Refinamiento:</a:t>
            </a:r>
            <a:r>
              <a:rPr lang="es-MX" sz="2000">
                <a:ea typeface="+mn-lt"/>
                <a:cs typeface="+mn-lt"/>
              </a:rPr>
              <a:t> Los píxeles son asignados al superpíxel más cercano o más similar. </a:t>
            </a:r>
          </a:p>
        </p:txBody>
      </p:sp>
      <p:pic>
        <p:nvPicPr>
          <p:cNvPr id="4" name="Picture 3" descr="A cartoon of a cow&#10;&#10;AI-generated content may be incorrect.">
            <a:extLst>
              <a:ext uri="{FF2B5EF4-FFF2-40B4-BE49-F238E27FC236}">
                <a16:creationId xmlns:a16="http://schemas.microsoft.com/office/drawing/2014/main" id="{4944890A-79A3-12B9-3E1A-9C64E7E19415}"/>
              </a:ext>
            </a:extLst>
          </p:cNvPr>
          <p:cNvPicPr>
            <a:picLocks noChangeAspect="1"/>
          </p:cNvPicPr>
          <p:nvPr/>
        </p:nvPicPr>
        <p:blipFill>
          <a:blip r:embed="rId3"/>
          <a:stretch>
            <a:fillRect/>
          </a:stretch>
        </p:blipFill>
        <p:spPr>
          <a:xfrm>
            <a:off x="7420445" y="774285"/>
            <a:ext cx="3441564" cy="2581173"/>
          </a:xfrm>
          <a:prstGeom prst="rect">
            <a:avLst/>
          </a:prstGeom>
        </p:spPr>
      </p:pic>
      <p:pic>
        <p:nvPicPr>
          <p:cNvPr id="5" name="Picture 4">
            <a:extLst>
              <a:ext uri="{FF2B5EF4-FFF2-40B4-BE49-F238E27FC236}">
                <a16:creationId xmlns:a16="http://schemas.microsoft.com/office/drawing/2014/main" id="{0A51CB2D-1E69-6F4F-2DA1-FB20DAE8C9CC}"/>
              </a:ext>
            </a:extLst>
          </p:cNvPr>
          <p:cNvPicPr>
            <a:picLocks noChangeAspect="1"/>
          </p:cNvPicPr>
          <p:nvPr/>
        </p:nvPicPr>
        <p:blipFill>
          <a:blip r:embed="rId4"/>
          <a:stretch>
            <a:fillRect/>
          </a:stretch>
        </p:blipFill>
        <p:spPr>
          <a:xfrm>
            <a:off x="7420445" y="3575074"/>
            <a:ext cx="3441564" cy="2581173"/>
          </a:xfrm>
          <a:prstGeom prst="rect">
            <a:avLst/>
          </a:prstGeom>
        </p:spPr>
      </p:pic>
    </p:spTree>
    <p:extLst>
      <p:ext uri="{BB962C8B-B14F-4D97-AF65-F5344CB8AC3E}">
        <p14:creationId xmlns:p14="http://schemas.microsoft.com/office/powerpoint/2010/main" val="32009449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7112EEA-DD96-34BD-31DD-BDB24C94B72C}"/>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49FB5C3-7336-4FE0-A30C-CC0A3646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5" name="Rectangle 14">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02EE94E6-308E-AFB5-7BD5-E3106355ECC5}"/>
              </a:ext>
            </a:extLst>
          </p:cNvPr>
          <p:cNvSpPr>
            <a:spLocks noGrp="1"/>
          </p:cNvSpPr>
          <p:nvPr>
            <p:ph type="title"/>
          </p:nvPr>
        </p:nvSpPr>
        <p:spPr>
          <a:xfrm>
            <a:off x="1057025" y="922644"/>
            <a:ext cx="5040285" cy="1169585"/>
          </a:xfrm>
        </p:spPr>
        <p:txBody>
          <a:bodyPr anchor="b">
            <a:normAutofit/>
          </a:bodyPr>
          <a:lstStyle/>
          <a:p>
            <a:r>
              <a:rPr lang="es-MX" sz="4000"/>
              <a:t>Cualidades Deseables</a:t>
            </a:r>
            <a:endParaRPr lang="en-US" sz="4000"/>
          </a:p>
        </p:txBody>
      </p:sp>
      <p:sp>
        <p:nvSpPr>
          <p:cNvPr id="20" name="Rectangle 19">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B5F8C32-3867-A864-62CA-D3595FE4C780}"/>
              </a:ext>
            </a:extLst>
          </p:cNvPr>
          <p:cNvSpPr>
            <a:spLocks noGrp="1"/>
          </p:cNvSpPr>
          <p:nvPr>
            <p:ph idx="1"/>
          </p:nvPr>
        </p:nvSpPr>
        <p:spPr>
          <a:xfrm>
            <a:off x="1055715" y="2508105"/>
            <a:ext cx="5040285" cy="3632493"/>
          </a:xfrm>
        </p:spPr>
        <p:txBody>
          <a:bodyPr vert="horz" lIns="91440" tIns="45720" rIns="91440" bIns="45720" rtlCol="0" anchor="ctr">
            <a:normAutofit/>
          </a:bodyPr>
          <a:lstStyle/>
          <a:p>
            <a:pPr lvl="1">
              <a:buFont typeface="Courier New" panose="020B0604020202020204" pitchFamily="34" charset="0"/>
              <a:buChar char="o"/>
            </a:pPr>
            <a:r>
              <a:rPr lang="es-MX" sz="2000" b="1">
                <a:ea typeface="+mn-lt"/>
                <a:cs typeface="+mn-lt"/>
              </a:rPr>
              <a:t>Adherencia a los límites (Boundary Adherence)</a:t>
            </a:r>
            <a:endParaRPr lang="es-MX" sz="2000">
              <a:ea typeface="+mn-lt"/>
              <a:cs typeface="+mn-lt"/>
            </a:endParaRPr>
          </a:p>
          <a:p>
            <a:pPr lvl="1">
              <a:buFont typeface="Courier New" panose="020B0604020202020204" pitchFamily="34" charset="0"/>
              <a:buChar char="o"/>
            </a:pPr>
            <a:r>
              <a:rPr lang="es-MX" sz="2000" b="1">
                <a:ea typeface="+mn-lt"/>
                <a:cs typeface="+mn-lt"/>
              </a:rPr>
              <a:t>Homogeneidad de color/rasgos</a:t>
            </a:r>
          </a:p>
          <a:p>
            <a:pPr lvl="1">
              <a:buFont typeface="Courier New" panose="020B0604020202020204" pitchFamily="34" charset="0"/>
              <a:buChar char="o"/>
            </a:pPr>
            <a:r>
              <a:rPr lang="es-MX" sz="2000" b="1">
                <a:ea typeface="+mn-lt"/>
                <a:cs typeface="+mn-lt"/>
              </a:rPr>
              <a:t>Compacidad y Regularidad</a:t>
            </a:r>
          </a:p>
          <a:p>
            <a:pPr lvl="1">
              <a:buFont typeface="Courier New" panose="020B0604020202020204" pitchFamily="34" charset="0"/>
              <a:buChar char="o"/>
            </a:pPr>
            <a:r>
              <a:rPr lang="es-MX" sz="2000" b="1">
                <a:ea typeface="+mn-lt"/>
                <a:cs typeface="+mn-lt"/>
              </a:rPr>
              <a:t>Conectividad</a:t>
            </a:r>
          </a:p>
          <a:p>
            <a:pPr lvl="1">
              <a:buFont typeface="Courier New" panose="020B0604020202020204" pitchFamily="34" charset="0"/>
              <a:buChar char="o"/>
            </a:pPr>
            <a:r>
              <a:rPr lang="es-MX" sz="2000" b="1">
                <a:ea typeface="+mn-lt"/>
                <a:cs typeface="+mn-lt"/>
              </a:rPr>
              <a:t>Eficiencia Computacional</a:t>
            </a:r>
          </a:p>
          <a:p>
            <a:pPr lvl="1">
              <a:buFont typeface="Courier New" panose="020B0604020202020204" pitchFamily="34" charset="0"/>
              <a:buChar char="o"/>
            </a:pPr>
            <a:r>
              <a:rPr lang="es-MX" sz="2000" b="1">
                <a:ea typeface="+mn-lt"/>
                <a:cs typeface="+mn-lt"/>
              </a:rPr>
              <a:t>Control de Cantidad</a:t>
            </a:r>
          </a:p>
        </p:txBody>
      </p:sp>
      <p:pic>
        <p:nvPicPr>
          <p:cNvPr id="5" name="Picture 4" descr="A group of horses in a field&#10;&#10;AI-generated content may be incorrect.">
            <a:extLst>
              <a:ext uri="{FF2B5EF4-FFF2-40B4-BE49-F238E27FC236}">
                <a16:creationId xmlns:a16="http://schemas.microsoft.com/office/drawing/2014/main" id="{C01A324C-A33A-7A77-FF0F-DB90952BDEDB}"/>
              </a:ext>
            </a:extLst>
          </p:cNvPr>
          <p:cNvPicPr>
            <a:picLocks noChangeAspect="1"/>
          </p:cNvPicPr>
          <p:nvPr/>
        </p:nvPicPr>
        <p:blipFill>
          <a:blip r:embed="rId3"/>
          <a:stretch>
            <a:fillRect/>
          </a:stretch>
        </p:blipFill>
        <p:spPr>
          <a:xfrm>
            <a:off x="7207764" y="774285"/>
            <a:ext cx="3866925" cy="2581173"/>
          </a:xfrm>
          <a:prstGeom prst="rect">
            <a:avLst/>
          </a:prstGeom>
        </p:spPr>
      </p:pic>
      <p:pic>
        <p:nvPicPr>
          <p:cNvPr id="7" name="Picture 6">
            <a:extLst>
              <a:ext uri="{FF2B5EF4-FFF2-40B4-BE49-F238E27FC236}">
                <a16:creationId xmlns:a16="http://schemas.microsoft.com/office/drawing/2014/main" id="{2BE00564-F784-FB3B-E5C1-ECEB499887FF}"/>
              </a:ext>
            </a:extLst>
          </p:cNvPr>
          <p:cNvPicPr>
            <a:picLocks noChangeAspect="1"/>
          </p:cNvPicPr>
          <p:nvPr/>
        </p:nvPicPr>
        <p:blipFill>
          <a:blip r:embed="rId4"/>
          <a:stretch>
            <a:fillRect/>
          </a:stretch>
        </p:blipFill>
        <p:spPr>
          <a:xfrm>
            <a:off x="7207764" y="3575074"/>
            <a:ext cx="3866926" cy="2581173"/>
          </a:xfrm>
          <a:prstGeom prst="rect">
            <a:avLst/>
          </a:prstGeom>
        </p:spPr>
      </p:pic>
    </p:spTree>
    <p:extLst>
      <p:ext uri="{BB962C8B-B14F-4D97-AF65-F5344CB8AC3E}">
        <p14:creationId xmlns:p14="http://schemas.microsoft.com/office/powerpoint/2010/main" val="30702656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CCEF6D4-4853-24F5-6A67-2C42132DABE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E2F92B4-91C5-0930-F8A8-88444365E4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6CD3DD3F-9513-1949-773A-7DA279715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9EC9F536-C251-CAAF-EE4B-8BBDD17CA5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1A16BF8-E136-F53A-FF5C-8B2E0B48976A}"/>
              </a:ext>
            </a:extLst>
          </p:cNvPr>
          <p:cNvSpPr>
            <a:spLocks noGrp="1"/>
          </p:cNvSpPr>
          <p:nvPr>
            <p:ph type="title"/>
          </p:nvPr>
        </p:nvSpPr>
        <p:spPr>
          <a:xfrm>
            <a:off x="1285240" y="1050595"/>
            <a:ext cx="8836815" cy="1618489"/>
          </a:xfrm>
        </p:spPr>
        <p:txBody>
          <a:bodyPr anchor="ctr">
            <a:normAutofit fontScale="90000"/>
          </a:bodyPr>
          <a:lstStyle/>
          <a:p>
            <a:pPr algn="ctr"/>
            <a:r>
              <a:rPr lang="en-US" sz="7200" dirty="0" err="1"/>
              <a:t>Clasificación</a:t>
            </a:r>
            <a:r>
              <a:rPr lang="en-US" sz="7200" dirty="0"/>
              <a:t> de </a:t>
            </a:r>
            <a:r>
              <a:rPr lang="en-US" sz="7200" dirty="0" err="1"/>
              <a:t>métodos</a:t>
            </a:r>
            <a:endParaRPr lang="es-MX" sz="7200" dirty="0" err="1"/>
          </a:p>
        </p:txBody>
      </p:sp>
      <p:sp>
        <p:nvSpPr>
          <p:cNvPr id="3" name="Content Placeholder 2">
            <a:extLst>
              <a:ext uri="{FF2B5EF4-FFF2-40B4-BE49-F238E27FC236}">
                <a16:creationId xmlns:a16="http://schemas.microsoft.com/office/drawing/2014/main" id="{2B157153-5566-75D2-3F35-2202732AE8DC}"/>
              </a:ext>
            </a:extLst>
          </p:cNvPr>
          <p:cNvSpPr>
            <a:spLocks noGrp="1"/>
          </p:cNvSpPr>
          <p:nvPr>
            <p:ph idx="1"/>
          </p:nvPr>
        </p:nvSpPr>
        <p:spPr>
          <a:xfrm>
            <a:off x="1285240" y="2969469"/>
            <a:ext cx="8074815" cy="2800395"/>
          </a:xfrm>
        </p:spPr>
        <p:txBody>
          <a:bodyPr anchor="t">
            <a:normAutofit/>
          </a:bodyPr>
          <a:lstStyle/>
          <a:p>
            <a:endParaRPr lang="en-US" sz="2400"/>
          </a:p>
        </p:txBody>
      </p:sp>
    </p:spTree>
    <p:extLst>
      <p:ext uri="{BB962C8B-B14F-4D97-AF65-F5344CB8AC3E}">
        <p14:creationId xmlns:p14="http://schemas.microsoft.com/office/powerpoint/2010/main" val="13245691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60847F1-79F6-CCA8-81F6-8877C396D790}"/>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6EFC920F-B85A-4068-BD93-41064EDE93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 name="Group 25">
            <a:extLst>
              <a:ext uri="{FF2B5EF4-FFF2-40B4-BE49-F238E27FC236}">
                <a16:creationId xmlns:a16="http://schemas.microsoft.com/office/drawing/2014/main" id="{1C559108-BBAE-426C-8564-051D2BA6DDC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27" name="Rectangle 26">
              <a:extLst>
                <a:ext uri="{FF2B5EF4-FFF2-40B4-BE49-F238E27FC236}">
                  <a16:creationId xmlns:a16="http://schemas.microsoft.com/office/drawing/2014/main" id="{42BC35EE-6650-42D2-AEFB-4B7CD1AFC9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0952C743-9049-4DFB-878B-2AB07B6E4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0267FF7F-9B4A-8D10-FC75-EC270E7921DA}"/>
              </a:ext>
            </a:extLst>
          </p:cNvPr>
          <p:cNvSpPr>
            <a:spLocks noGrp="1"/>
          </p:cNvSpPr>
          <p:nvPr>
            <p:ph type="title"/>
          </p:nvPr>
        </p:nvSpPr>
        <p:spPr>
          <a:xfrm>
            <a:off x="1099425" y="1238081"/>
            <a:ext cx="4709345" cy="962953"/>
          </a:xfrm>
        </p:spPr>
        <p:txBody>
          <a:bodyPr anchor="b">
            <a:normAutofit/>
          </a:bodyPr>
          <a:lstStyle/>
          <a:p>
            <a:r>
              <a:rPr lang="es-MX" sz="3800"/>
              <a:t>Tipos de Algoritmos</a:t>
            </a:r>
            <a:endParaRPr lang="en-US" sz="3800"/>
          </a:p>
        </p:txBody>
      </p:sp>
      <p:sp>
        <p:nvSpPr>
          <p:cNvPr id="32" name="Rectangle 31">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39885" y="2372170"/>
            <a:ext cx="438912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BB441A7-C46B-6690-F1AE-C3C06A396636}"/>
              </a:ext>
            </a:extLst>
          </p:cNvPr>
          <p:cNvSpPr>
            <a:spLocks noGrp="1"/>
          </p:cNvSpPr>
          <p:nvPr>
            <p:ph idx="1"/>
          </p:nvPr>
        </p:nvSpPr>
        <p:spPr>
          <a:xfrm>
            <a:off x="1100736" y="2508105"/>
            <a:ext cx="4709345" cy="3632493"/>
          </a:xfrm>
        </p:spPr>
        <p:txBody>
          <a:bodyPr vert="horz" lIns="91440" tIns="45720" rIns="91440" bIns="45720" rtlCol="0" anchor="ctr">
            <a:normAutofit/>
          </a:bodyPr>
          <a:lstStyle/>
          <a:p>
            <a:r>
              <a:rPr lang="es-MX" sz="1700" b="1">
                <a:ea typeface="+mn-lt"/>
                <a:cs typeface="+mn-lt"/>
              </a:rPr>
              <a:t>Basados en Clustering:</a:t>
            </a:r>
            <a:r>
              <a:rPr lang="es-MX" sz="1700">
                <a:ea typeface="+mn-lt"/>
                <a:cs typeface="+mn-lt"/>
              </a:rPr>
              <a:t> k-means. Se centran en la proximidad de color y espacial. Ej: SLIC</a:t>
            </a:r>
          </a:p>
          <a:p>
            <a:r>
              <a:rPr lang="es-MX" sz="1700" b="1">
                <a:ea typeface="+mn-lt"/>
                <a:cs typeface="+mn-lt"/>
              </a:rPr>
              <a:t>Basados en Grafos:</a:t>
            </a:r>
            <a:r>
              <a:rPr lang="es-MX" sz="1700">
                <a:ea typeface="+mn-lt"/>
                <a:cs typeface="+mn-lt"/>
              </a:rPr>
              <a:t> Tratan la imagen como un grafo. Ej: ERS y NC. </a:t>
            </a:r>
            <a:endParaRPr lang="es-MX" sz="1700"/>
          </a:p>
          <a:p>
            <a:r>
              <a:rPr lang="es-MX" sz="1700" b="1">
                <a:ea typeface="+mn-lt"/>
                <a:cs typeface="+mn-lt"/>
              </a:rPr>
              <a:t>Basados en Flujos Geométricos / Evolución de Contorno</a:t>
            </a:r>
            <a:r>
              <a:rPr lang="es-MX" sz="1700">
                <a:ea typeface="+mn-lt"/>
                <a:cs typeface="+mn-lt"/>
              </a:rPr>
              <a:t>: Representan los superpíxeles como contornos que evolucionan a partir de semillas iniciales. Ej: TurboPixels y SEEDS</a:t>
            </a:r>
          </a:p>
          <a:p>
            <a:r>
              <a:rPr lang="es-MX" sz="1700" b="1">
                <a:ea typeface="+mn-lt"/>
                <a:cs typeface="+mn-lt"/>
              </a:rPr>
              <a:t>Watershed-Based:</a:t>
            </a:r>
            <a:r>
              <a:rPr lang="es-MX" sz="1700">
                <a:ea typeface="+mn-lt"/>
                <a:cs typeface="+mn-lt"/>
              </a:rPr>
              <a:t> Basados en la Transformada Watershed, tipografía de gradiente</a:t>
            </a:r>
            <a:endParaRPr lang="es-MX" sz="1700"/>
          </a:p>
          <a:p>
            <a:pPr marL="0" indent="0">
              <a:buNone/>
            </a:pPr>
            <a:endParaRPr lang="es-MX" sz="1700"/>
          </a:p>
        </p:txBody>
      </p:sp>
      <p:pic>
        <p:nvPicPr>
          <p:cNvPr id="8" name="Picture 7" descr="A circular chart with different colored circles&#10;&#10;AI-generated content may be incorrect.">
            <a:extLst>
              <a:ext uri="{FF2B5EF4-FFF2-40B4-BE49-F238E27FC236}">
                <a16:creationId xmlns:a16="http://schemas.microsoft.com/office/drawing/2014/main" id="{970D0FF7-F9D2-7A72-45E6-0FC5317C944A}"/>
              </a:ext>
            </a:extLst>
          </p:cNvPr>
          <p:cNvPicPr>
            <a:picLocks noChangeAspect="1"/>
          </p:cNvPicPr>
          <p:nvPr/>
        </p:nvPicPr>
        <p:blipFill>
          <a:blip r:embed="rId3"/>
          <a:srcRect r="2" b="3011"/>
          <a:stretch>
            <a:fillRect/>
          </a:stretch>
        </p:blipFill>
        <p:spPr>
          <a:xfrm>
            <a:off x="6538366" y="1383738"/>
            <a:ext cx="4929098" cy="4756870"/>
          </a:xfrm>
          <a:prstGeom prst="rect">
            <a:avLst/>
          </a:prstGeom>
        </p:spPr>
      </p:pic>
    </p:spTree>
    <p:extLst>
      <p:ext uri="{BB962C8B-B14F-4D97-AF65-F5344CB8AC3E}">
        <p14:creationId xmlns:p14="http://schemas.microsoft.com/office/powerpoint/2010/main" val="21570607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7AF2F74-18A7-3A8F-BF8C-A4AA4BC87734}"/>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DEDCC5D-8B8A-40DB-BE90-A3AA27C64A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3" name="Rectangle 12">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3F53EAF-4870-D6AD-20A9-F405F78C679E}"/>
              </a:ext>
            </a:extLst>
          </p:cNvPr>
          <p:cNvSpPr>
            <a:spLocks noGrp="1"/>
          </p:cNvSpPr>
          <p:nvPr>
            <p:ph type="title"/>
          </p:nvPr>
        </p:nvSpPr>
        <p:spPr>
          <a:xfrm>
            <a:off x="1282963" y="561805"/>
            <a:ext cx="9849751" cy="1349671"/>
          </a:xfrm>
        </p:spPr>
        <p:txBody>
          <a:bodyPr anchor="b">
            <a:normAutofit/>
          </a:bodyPr>
          <a:lstStyle/>
          <a:p>
            <a:r>
              <a:rPr lang="es-MX" sz="5000"/>
              <a:t>Comparativa de algunos Algoritmos</a:t>
            </a:r>
            <a:endParaRPr lang="en-US" sz="5000"/>
          </a:p>
        </p:txBody>
      </p:sp>
      <p:graphicFrame>
        <p:nvGraphicFramePr>
          <p:cNvPr id="5" name="Content Placeholder 4">
            <a:extLst>
              <a:ext uri="{FF2B5EF4-FFF2-40B4-BE49-F238E27FC236}">
                <a16:creationId xmlns:a16="http://schemas.microsoft.com/office/drawing/2014/main" id="{C1C71BD5-E0B5-F304-21C1-BA6727287AF1}"/>
              </a:ext>
            </a:extLst>
          </p:cNvPr>
          <p:cNvGraphicFramePr>
            <a:graphicFrameLocks noGrp="1"/>
          </p:cNvGraphicFramePr>
          <p:nvPr>
            <p:ph idx="1"/>
            <p:extLst>
              <p:ext uri="{D42A27DB-BD31-4B8C-83A1-F6EECF244321}">
                <p14:modId xmlns:p14="http://schemas.microsoft.com/office/powerpoint/2010/main" val="536735431"/>
              </p:ext>
            </p:extLst>
          </p:nvPr>
        </p:nvGraphicFramePr>
        <p:xfrm>
          <a:off x="2387377" y="2179012"/>
          <a:ext cx="7642587" cy="3100956"/>
        </p:xfrm>
        <a:graphic>
          <a:graphicData uri="http://schemas.openxmlformats.org/drawingml/2006/table">
            <a:tbl>
              <a:tblPr firstRow="1" bandRow="1">
                <a:tableStyleId>{9D7B26C5-4107-4FEC-AEDC-1716B250A1EF}</a:tableStyleId>
              </a:tblPr>
              <a:tblGrid>
                <a:gridCol w="1148265">
                  <a:extLst>
                    <a:ext uri="{9D8B030D-6E8A-4147-A177-3AD203B41FA5}">
                      <a16:colId xmlns:a16="http://schemas.microsoft.com/office/drawing/2014/main" val="4256186942"/>
                    </a:ext>
                  </a:extLst>
                </a:gridCol>
                <a:gridCol w="1985911">
                  <a:extLst>
                    <a:ext uri="{9D8B030D-6E8A-4147-A177-3AD203B41FA5}">
                      <a16:colId xmlns:a16="http://schemas.microsoft.com/office/drawing/2014/main" val="3437575765"/>
                    </a:ext>
                  </a:extLst>
                </a:gridCol>
                <a:gridCol w="1222644">
                  <a:extLst>
                    <a:ext uri="{9D8B030D-6E8A-4147-A177-3AD203B41FA5}">
                      <a16:colId xmlns:a16="http://schemas.microsoft.com/office/drawing/2014/main" val="2481681645"/>
                    </a:ext>
                  </a:extLst>
                </a:gridCol>
                <a:gridCol w="3285767">
                  <a:extLst>
                    <a:ext uri="{9D8B030D-6E8A-4147-A177-3AD203B41FA5}">
                      <a16:colId xmlns:a16="http://schemas.microsoft.com/office/drawing/2014/main" val="3491390444"/>
                    </a:ext>
                  </a:extLst>
                </a:gridCol>
              </a:tblGrid>
              <a:tr h="516826">
                <a:tc>
                  <a:txBody>
                    <a:bodyPr/>
                    <a:lstStyle/>
                    <a:p>
                      <a:pPr>
                        <a:buNone/>
                      </a:pPr>
                      <a:r>
                        <a:rPr lang="en-US" sz="1200" err="1">
                          <a:solidFill>
                            <a:schemeClr val="tx1"/>
                          </a:solidFill>
                          <a:effectLst/>
                        </a:rPr>
                        <a:t>Algoritmo</a:t>
                      </a:r>
                      <a:endParaRPr lang="en-US" sz="1200">
                        <a:solidFill>
                          <a:schemeClr val="tx1"/>
                        </a:solidFill>
                        <a:effectLst/>
                      </a:endParaRPr>
                    </a:p>
                  </a:txBody>
                  <a:tcPr marL="102005" marR="102005" marT="51003" marB="51003" anchor="ctr"/>
                </a:tc>
                <a:tc>
                  <a:txBody>
                    <a:bodyPr/>
                    <a:lstStyle/>
                    <a:p>
                      <a:pPr>
                        <a:buNone/>
                      </a:pPr>
                      <a:r>
                        <a:rPr lang="en-US" sz="1200" err="1">
                          <a:solidFill>
                            <a:schemeClr val="tx1"/>
                          </a:solidFill>
                          <a:effectLst/>
                        </a:rPr>
                        <a:t>Categoría</a:t>
                      </a:r>
                      <a:r>
                        <a:rPr lang="en-US" sz="1200">
                          <a:solidFill>
                            <a:schemeClr val="tx1"/>
                          </a:solidFill>
                          <a:effectLst/>
                        </a:rPr>
                        <a:t> Principal</a:t>
                      </a:r>
                    </a:p>
                  </a:txBody>
                  <a:tcPr marL="102005" marR="102005" marT="51003" marB="51003" anchor="ctr"/>
                </a:tc>
                <a:tc>
                  <a:txBody>
                    <a:bodyPr/>
                    <a:lstStyle/>
                    <a:p>
                      <a:pPr>
                        <a:buNone/>
                      </a:pPr>
                      <a:r>
                        <a:rPr lang="en-US" sz="1200" err="1">
                          <a:solidFill>
                            <a:schemeClr val="tx1"/>
                          </a:solidFill>
                          <a:effectLst/>
                        </a:rPr>
                        <a:t>Complejidad</a:t>
                      </a:r>
                      <a:r>
                        <a:rPr lang="en-US" sz="1200">
                          <a:solidFill>
                            <a:schemeClr val="tx1"/>
                          </a:solidFill>
                          <a:effectLst/>
                        </a:rPr>
                        <a:t> </a:t>
                      </a:r>
                      <a:r>
                        <a:rPr lang="en-US" sz="1200" err="1">
                          <a:solidFill>
                            <a:schemeClr val="tx1"/>
                          </a:solidFill>
                          <a:effectLst/>
                        </a:rPr>
                        <a:t>Típica</a:t>
                      </a:r>
                      <a:endParaRPr lang="en-US" sz="1200">
                        <a:solidFill>
                          <a:schemeClr val="tx1"/>
                        </a:solidFill>
                        <a:effectLst/>
                      </a:endParaRPr>
                    </a:p>
                  </a:txBody>
                  <a:tcPr marL="102005" marR="102005" marT="51003" marB="51003" anchor="ctr"/>
                </a:tc>
                <a:tc>
                  <a:txBody>
                    <a:bodyPr/>
                    <a:lstStyle/>
                    <a:p>
                      <a:pPr>
                        <a:buNone/>
                      </a:pPr>
                      <a:r>
                        <a:rPr lang="en-US" sz="1200" err="1">
                          <a:solidFill>
                            <a:schemeClr val="tx1"/>
                          </a:solidFill>
                          <a:effectLst/>
                        </a:rPr>
                        <a:t>Enfoque</a:t>
                      </a:r>
                      <a:r>
                        <a:rPr lang="en-US" sz="1200">
                          <a:solidFill>
                            <a:schemeClr val="tx1"/>
                          </a:solidFill>
                          <a:effectLst/>
                        </a:rPr>
                        <a:t> Principal</a:t>
                      </a:r>
                    </a:p>
                  </a:txBody>
                  <a:tcPr marL="102005" marR="102005" marT="51003" marB="51003" anchor="ctr"/>
                </a:tc>
                <a:extLst>
                  <a:ext uri="{0D108BD9-81ED-4DB2-BD59-A6C34878D82A}">
                    <a16:rowId xmlns:a16="http://schemas.microsoft.com/office/drawing/2014/main" val="77191557"/>
                  </a:ext>
                </a:extLst>
              </a:tr>
              <a:tr h="516826">
                <a:tc>
                  <a:txBody>
                    <a:bodyPr/>
                    <a:lstStyle/>
                    <a:p>
                      <a:pPr>
                        <a:buNone/>
                      </a:pPr>
                      <a:r>
                        <a:rPr lang="en-US" sz="1200">
                          <a:solidFill>
                            <a:schemeClr val="tx1"/>
                          </a:solidFill>
                          <a:effectLst/>
                        </a:rPr>
                        <a:t>SLIC</a:t>
                      </a:r>
                    </a:p>
                  </a:txBody>
                  <a:tcPr marL="102005" marR="102005" marT="51003" marB="51003" anchor="ctr"/>
                </a:tc>
                <a:tc>
                  <a:txBody>
                    <a:bodyPr/>
                    <a:lstStyle/>
                    <a:p>
                      <a:pPr>
                        <a:buNone/>
                      </a:pPr>
                      <a:r>
                        <a:rPr lang="en-US" sz="1200">
                          <a:solidFill>
                            <a:schemeClr val="tx1"/>
                          </a:solidFill>
                          <a:effectLst/>
                        </a:rPr>
                        <a:t>Clustering (k-means)</a:t>
                      </a:r>
                    </a:p>
                  </a:txBody>
                  <a:tcPr marL="102005" marR="102005" marT="51003" marB="51003" anchor="ctr"/>
                </a:tc>
                <a:tc>
                  <a:txBody>
                    <a:bodyPr/>
                    <a:lstStyle/>
                    <a:p>
                      <a:pPr>
                        <a:buNone/>
                      </a:pPr>
                      <a:r>
                        <a:rPr lang="en-US" sz="1200">
                          <a:solidFill>
                            <a:schemeClr val="tx1"/>
                          </a:solidFill>
                          <a:effectLst/>
                        </a:rPr>
                        <a:t>O(N)</a:t>
                      </a:r>
                    </a:p>
                  </a:txBody>
                  <a:tcPr marL="102005" marR="102005" marT="51003" marB="51003" anchor="ctr"/>
                </a:tc>
                <a:tc>
                  <a:txBody>
                    <a:bodyPr/>
                    <a:lstStyle/>
                    <a:p>
                      <a:pPr>
                        <a:buNone/>
                      </a:pPr>
                      <a:r>
                        <a:rPr lang="en-US" sz="1200" err="1">
                          <a:solidFill>
                            <a:schemeClr val="tx1"/>
                          </a:solidFill>
                          <a:effectLst/>
                        </a:rPr>
                        <a:t>Estándar</a:t>
                      </a:r>
                      <a:r>
                        <a:rPr lang="en-US" sz="1200">
                          <a:solidFill>
                            <a:schemeClr val="tx1"/>
                          </a:solidFill>
                          <a:effectLst/>
                        </a:rPr>
                        <a:t>; Buen </a:t>
                      </a:r>
                      <a:r>
                        <a:rPr lang="en-US" sz="1200" err="1">
                          <a:solidFill>
                            <a:schemeClr val="tx1"/>
                          </a:solidFill>
                          <a:effectLst/>
                        </a:rPr>
                        <a:t>equilibrio</a:t>
                      </a:r>
                      <a:r>
                        <a:rPr lang="en-US" sz="1200">
                          <a:solidFill>
                            <a:schemeClr val="tx1"/>
                          </a:solidFill>
                          <a:effectLst/>
                        </a:rPr>
                        <a:t> entre </a:t>
                      </a:r>
                      <a:r>
                        <a:rPr lang="en-US" sz="1200" err="1">
                          <a:solidFill>
                            <a:schemeClr val="tx1"/>
                          </a:solidFill>
                          <a:effectLst/>
                        </a:rPr>
                        <a:t>velocidad</a:t>
                      </a:r>
                      <a:r>
                        <a:rPr lang="en-US" sz="1200">
                          <a:solidFill>
                            <a:schemeClr val="tx1"/>
                          </a:solidFill>
                          <a:effectLst/>
                        </a:rPr>
                        <a:t> y </a:t>
                      </a:r>
                      <a:r>
                        <a:rPr lang="en-US" sz="1200" err="1">
                          <a:solidFill>
                            <a:schemeClr val="tx1"/>
                          </a:solidFill>
                          <a:effectLst/>
                        </a:rPr>
                        <a:t>calidad</a:t>
                      </a:r>
                      <a:r>
                        <a:rPr lang="en-US" sz="1200">
                          <a:solidFill>
                            <a:schemeClr val="tx1"/>
                          </a:solidFill>
                          <a:effectLst/>
                        </a:rPr>
                        <a:t>.</a:t>
                      </a:r>
                    </a:p>
                  </a:txBody>
                  <a:tcPr marL="102005" marR="102005" marT="51003" marB="51003" anchor="ctr"/>
                </a:tc>
                <a:extLst>
                  <a:ext uri="{0D108BD9-81ED-4DB2-BD59-A6C34878D82A}">
                    <a16:rowId xmlns:a16="http://schemas.microsoft.com/office/drawing/2014/main" val="1712492703"/>
                  </a:ext>
                </a:extLst>
              </a:tr>
              <a:tr h="516826">
                <a:tc>
                  <a:txBody>
                    <a:bodyPr/>
                    <a:lstStyle/>
                    <a:p>
                      <a:pPr>
                        <a:buNone/>
                      </a:pPr>
                      <a:r>
                        <a:rPr lang="en-US" sz="1200">
                          <a:solidFill>
                            <a:schemeClr val="tx1"/>
                          </a:solidFill>
                          <a:effectLst/>
                        </a:rPr>
                        <a:t>SNIC</a:t>
                      </a:r>
                    </a:p>
                  </a:txBody>
                  <a:tcPr marL="102005" marR="102005" marT="51003" marB="51003" anchor="ctr"/>
                </a:tc>
                <a:tc>
                  <a:txBody>
                    <a:bodyPr/>
                    <a:lstStyle/>
                    <a:p>
                      <a:pPr>
                        <a:buNone/>
                      </a:pPr>
                      <a:r>
                        <a:rPr lang="en-US" sz="1200">
                          <a:solidFill>
                            <a:schemeClr val="tx1"/>
                          </a:solidFill>
                          <a:effectLst/>
                        </a:rPr>
                        <a:t>Dynamic Center Update (Clustering)</a:t>
                      </a:r>
                    </a:p>
                  </a:txBody>
                  <a:tcPr marL="102005" marR="102005" marT="51003" marB="51003" anchor="ctr"/>
                </a:tc>
                <a:tc>
                  <a:txBody>
                    <a:bodyPr/>
                    <a:lstStyle/>
                    <a:p>
                      <a:pPr>
                        <a:buNone/>
                      </a:pPr>
                      <a:r>
                        <a:rPr lang="en-US" sz="1200">
                          <a:solidFill>
                            <a:schemeClr val="tx1"/>
                          </a:solidFill>
                          <a:effectLst/>
                        </a:rPr>
                        <a:t>O(</a:t>
                      </a:r>
                      <a:r>
                        <a:rPr lang="en-US" sz="1200" err="1">
                          <a:solidFill>
                            <a:schemeClr val="tx1"/>
                          </a:solidFill>
                          <a:effectLst/>
                        </a:rPr>
                        <a:t>NlogN</a:t>
                      </a:r>
                      <a:r>
                        <a:rPr lang="en-US" sz="1200">
                          <a:solidFill>
                            <a:schemeClr val="tx1"/>
                          </a:solidFill>
                          <a:effectLst/>
                        </a:rPr>
                        <a:t>)</a:t>
                      </a:r>
                    </a:p>
                  </a:txBody>
                  <a:tcPr marL="102005" marR="102005" marT="51003" marB="51003" anchor="ctr"/>
                </a:tc>
                <a:tc>
                  <a:txBody>
                    <a:bodyPr/>
                    <a:lstStyle/>
                    <a:p>
                      <a:pPr>
                        <a:buNone/>
                      </a:pPr>
                      <a:r>
                        <a:rPr lang="en-US" sz="1200" err="1">
                          <a:solidFill>
                            <a:schemeClr val="tx1"/>
                          </a:solidFill>
                          <a:effectLst/>
                        </a:rPr>
                        <a:t>Eficiencia</a:t>
                      </a:r>
                      <a:r>
                        <a:rPr lang="en-US" sz="1200">
                          <a:solidFill>
                            <a:schemeClr val="tx1"/>
                          </a:solidFill>
                          <a:effectLst/>
                        </a:rPr>
                        <a:t>; </a:t>
                      </a:r>
                      <a:r>
                        <a:rPr lang="en-US" sz="1200" err="1">
                          <a:solidFill>
                            <a:schemeClr val="tx1"/>
                          </a:solidFill>
                          <a:effectLst/>
                        </a:rPr>
                        <a:t>Versión</a:t>
                      </a:r>
                      <a:r>
                        <a:rPr lang="en-US" sz="1200">
                          <a:solidFill>
                            <a:schemeClr val="tx1"/>
                          </a:solidFill>
                          <a:effectLst/>
                        </a:rPr>
                        <a:t> no </a:t>
                      </a:r>
                      <a:r>
                        <a:rPr lang="en-US" sz="1200" err="1">
                          <a:solidFill>
                            <a:schemeClr val="tx1"/>
                          </a:solidFill>
                          <a:effectLst/>
                        </a:rPr>
                        <a:t>iterativa</a:t>
                      </a:r>
                      <a:r>
                        <a:rPr lang="en-US" sz="1200">
                          <a:solidFill>
                            <a:schemeClr val="tx1"/>
                          </a:solidFill>
                          <a:effectLst/>
                        </a:rPr>
                        <a:t> de SLIC.</a:t>
                      </a:r>
                    </a:p>
                  </a:txBody>
                  <a:tcPr marL="102005" marR="102005" marT="51003" marB="51003" anchor="ctr"/>
                </a:tc>
                <a:extLst>
                  <a:ext uri="{0D108BD9-81ED-4DB2-BD59-A6C34878D82A}">
                    <a16:rowId xmlns:a16="http://schemas.microsoft.com/office/drawing/2014/main" val="767899061"/>
                  </a:ext>
                </a:extLst>
              </a:tr>
              <a:tr h="516826">
                <a:tc>
                  <a:txBody>
                    <a:bodyPr/>
                    <a:lstStyle/>
                    <a:p>
                      <a:pPr>
                        <a:buNone/>
                      </a:pPr>
                      <a:r>
                        <a:rPr lang="en-US" sz="1200">
                          <a:solidFill>
                            <a:schemeClr val="tx1"/>
                          </a:solidFill>
                          <a:effectLst/>
                        </a:rPr>
                        <a:t>ERS</a:t>
                      </a:r>
                    </a:p>
                  </a:txBody>
                  <a:tcPr marL="102005" marR="102005" marT="51003" marB="51003" anchor="ctr"/>
                </a:tc>
                <a:tc>
                  <a:txBody>
                    <a:bodyPr/>
                    <a:lstStyle/>
                    <a:p>
                      <a:pPr>
                        <a:buNone/>
                      </a:pPr>
                      <a:r>
                        <a:rPr lang="en-US" sz="1200" err="1">
                          <a:solidFill>
                            <a:schemeClr val="tx1"/>
                          </a:solidFill>
                          <a:effectLst/>
                        </a:rPr>
                        <a:t>Basado</a:t>
                      </a:r>
                      <a:r>
                        <a:rPr lang="en-US" sz="1200">
                          <a:solidFill>
                            <a:schemeClr val="tx1"/>
                          </a:solidFill>
                          <a:effectLst/>
                        </a:rPr>
                        <a:t> </a:t>
                      </a:r>
                      <a:r>
                        <a:rPr lang="en-US" sz="1200" err="1">
                          <a:solidFill>
                            <a:schemeClr val="tx1"/>
                          </a:solidFill>
                          <a:effectLst/>
                        </a:rPr>
                        <a:t>en</a:t>
                      </a:r>
                      <a:r>
                        <a:rPr lang="en-US" sz="1200">
                          <a:solidFill>
                            <a:schemeClr val="tx1"/>
                          </a:solidFill>
                          <a:effectLst/>
                        </a:rPr>
                        <a:t> </a:t>
                      </a:r>
                      <a:r>
                        <a:rPr lang="en-US" sz="1200" err="1">
                          <a:solidFill>
                            <a:schemeClr val="tx1"/>
                          </a:solidFill>
                          <a:effectLst/>
                        </a:rPr>
                        <a:t>Grafos</a:t>
                      </a:r>
                      <a:endParaRPr lang="en-US" sz="1200">
                        <a:solidFill>
                          <a:schemeClr val="tx1"/>
                        </a:solidFill>
                        <a:effectLst/>
                      </a:endParaRPr>
                    </a:p>
                  </a:txBody>
                  <a:tcPr marL="102005" marR="102005" marT="51003" marB="51003" anchor="ctr"/>
                </a:tc>
                <a:tc>
                  <a:txBody>
                    <a:bodyPr/>
                    <a:lstStyle/>
                    <a:p>
                      <a:pPr>
                        <a:buNone/>
                      </a:pPr>
                      <a:r>
                        <a:rPr lang="en-US" sz="1200">
                          <a:solidFill>
                            <a:schemeClr val="tx1"/>
                          </a:solidFill>
                          <a:effectLst/>
                        </a:rPr>
                        <a:t>O(</a:t>
                      </a:r>
                      <a:r>
                        <a:rPr lang="en-US" sz="1200" err="1">
                          <a:solidFill>
                            <a:schemeClr val="tx1"/>
                          </a:solidFill>
                          <a:effectLst/>
                        </a:rPr>
                        <a:t>NlogN</a:t>
                      </a:r>
                      <a:r>
                        <a:rPr lang="en-US" sz="1200">
                          <a:solidFill>
                            <a:schemeClr val="tx1"/>
                          </a:solidFill>
                          <a:effectLst/>
                        </a:rPr>
                        <a:t>) o O(N2logN)</a:t>
                      </a:r>
                    </a:p>
                  </a:txBody>
                  <a:tcPr marL="102005" marR="102005" marT="51003" marB="51003" anchor="ctr"/>
                </a:tc>
                <a:tc>
                  <a:txBody>
                    <a:bodyPr/>
                    <a:lstStyle/>
                    <a:p>
                      <a:pPr>
                        <a:buNone/>
                      </a:pPr>
                      <a:r>
                        <a:rPr lang="en-US" sz="1200" err="1">
                          <a:solidFill>
                            <a:schemeClr val="tx1"/>
                          </a:solidFill>
                          <a:effectLst/>
                        </a:rPr>
                        <a:t>Minimización</a:t>
                      </a:r>
                      <a:r>
                        <a:rPr lang="en-US" sz="1200">
                          <a:solidFill>
                            <a:schemeClr val="tx1"/>
                          </a:solidFill>
                          <a:effectLst/>
                        </a:rPr>
                        <a:t> global </a:t>
                      </a:r>
                      <a:r>
                        <a:rPr lang="en-US" sz="1200" err="1">
                          <a:solidFill>
                            <a:schemeClr val="tx1"/>
                          </a:solidFill>
                          <a:effectLst/>
                        </a:rPr>
                        <a:t>mediante</a:t>
                      </a:r>
                      <a:r>
                        <a:rPr lang="en-US" sz="1200">
                          <a:solidFill>
                            <a:schemeClr val="tx1"/>
                          </a:solidFill>
                          <a:effectLst/>
                        </a:rPr>
                        <a:t> </a:t>
                      </a:r>
                      <a:r>
                        <a:rPr lang="en-US" sz="1200" err="1">
                          <a:solidFill>
                            <a:schemeClr val="tx1"/>
                          </a:solidFill>
                          <a:effectLst/>
                        </a:rPr>
                        <a:t>tasa</a:t>
                      </a:r>
                      <a:r>
                        <a:rPr lang="en-US" sz="1200">
                          <a:solidFill>
                            <a:schemeClr val="tx1"/>
                          </a:solidFill>
                          <a:effectLst/>
                        </a:rPr>
                        <a:t> de </a:t>
                      </a:r>
                      <a:r>
                        <a:rPr lang="en-US" sz="1200" err="1">
                          <a:solidFill>
                            <a:schemeClr val="tx1"/>
                          </a:solidFill>
                          <a:effectLst/>
                        </a:rPr>
                        <a:t>entropía</a:t>
                      </a:r>
                      <a:r>
                        <a:rPr lang="en-US" sz="1200">
                          <a:solidFill>
                            <a:schemeClr val="tx1"/>
                          </a:solidFill>
                          <a:effectLst/>
                        </a:rPr>
                        <a:t>.</a:t>
                      </a:r>
                    </a:p>
                  </a:txBody>
                  <a:tcPr marL="102005" marR="102005" marT="51003" marB="51003" anchor="ctr"/>
                </a:tc>
                <a:extLst>
                  <a:ext uri="{0D108BD9-81ED-4DB2-BD59-A6C34878D82A}">
                    <a16:rowId xmlns:a16="http://schemas.microsoft.com/office/drawing/2014/main" val="2151959869"/>
                  </a:ext>
                </a:extLst>
              </a:tr>
              <a:tr h="516826">
                <a:tc>
                  <a:txBody>
                    <a:bodyPr/>
                    <a:lstStyle/>
                    <a:p>
                      <a:pPr>
                        <a:buNone/>
                      </a:pPr>
                      <a:r>
                        <a:rPr lang="en-US" sz="1200" err="1">
                          <a:solidFill>
                            <a:schemeClr val="tx1"/>
                          </a:solidFill>
                          <a:effectLst/>
                        </a:rPr>
                        <a:t>TurboPixels</a:t>
                      </a:r>
                      <a:endParaRPr lang="en-US" sz="1200">
                        <a:solidFill>
                          <a:schemeClr val="tx1"/>
                        </a:solidFill>
                        <a:effectLst/>
                      </a:endParaRPr>
                    </a:p>
                  </a:txBody>
                  <a:tcPr marL="102005" marR="102005" marT="51003" marB="51003" anchor="ctr"/>
                </a:tc>
                <a:tc>
                  <a:txBody>
                    <a:bodyPr/>
                    <a:lstStyle/>
                    <a:p>
                      <a:pPr>
                        <a:buNone/>
                      </a:pPr>
                      <a:r>
                        <a:rPr lang="en-US" sz="1200" err="1">
                          <a:solidFill>
                            <a:schemeClr val="tx1"/>
                          </a:solidFill>
                          <a:effectLst/>
                        </a:rPr>
                        <a:t>Evolución</a:t>
                      </a:r>
                      <a:r>
                        <a:rPr lang="en-US" sz="1200">
                          <a:solidFill>
                            <a:schemeClr val="tx1"/>
                          </a:solidFill>
                          <a:effectLst/>
                        </a:rPr>
                        <a:t> </a:t>
                      </a:r>
                      <a:r>
                        <a:rPr lang="en-US" sz="1200" err="1">
                          <a:solidFill>
                            <a:schemeClr val="tx1"/>
                          </a:solidFill>
                          <a:effectLst/>
                        </a:rPr>
                        <a:t>Geométrica</a:t>
                      </a:r>
                      <a:endParaRPr lang="en-US" sz="1200">
                        <a:solidFill>
                          <a:schemeClr val="tx1"/>
                        </a:solidFill>
                        <a:effectLst/>
                      </a:endParaRPr>
                    </a:p>
                  </a:txBody>
                  <a:tcPr marL="102005" marR="102005" marT="51003" marB="51003" anchor="ctr"/>
                </a:tc>
                <a:tc>
                  <a:txBody>
                    <a:bodyPr/>
                    <a:lstStyle/>
                    <a:p>
                      <a:pPr>
                        <a:buNone/>
                      </a:pPr>
                      <a:r>
                        <a:rPr lang="en-US" sz="1200" err="1">
                          <a:solidFill>
                            <a:schemeClr val="tx1"/>
                          </a:solidFill>
                          <a:effectLst/>
                        </a:rPr>
                        <a:t>Aprox</a:t>
                      </a:r>
                      <a:r>
                        <a:rPr lang="en-US" sz="1200">
                          <a:solidFill>
                            <a:schemeClr val="tx1"/>
                          </a:solidFill>
                          <a:effectLst/>
                        </a:rPr>
                        <a:t> O(N)</a:t>
                      </a:r>
                    </a:p>
                  </a:txBody>
                  <a:tcPr marL="102005" marR="102005" marT="51003" marB="51003" anchor="ctr"/>
                </a:tc>
                <a:tc>
                  <a:txBody>
                    <a:bodyPr/>
                    <a:lstStyle/>
                    <a:p>
                      <a:pPr>
                        <a:buNone/>
                      </a:pPr>
                      <a:r>
                        <a:rPr lang="en-US" sz="1200" err="1">
                          <a:solidFill>
                            <a:schemeClr val="tx1"/>
                          </a:solidFill>
                          <a:effectLst/>
                        </a:rPr>
                        <a:t>Crecimiento</a:t>
                      </a:r>
                      <a:r>
                        <a:rPr lang="en-US" sz="1200">
                          <a:solidFill>
                            <a:schemeClr val="tx1"/>
                          </a:solidFill>
                          <a:effectLst/>
                        </a:rPr>
                        <a:t> a </a:t>
                      </a:r>
                      <a:r>
                        <a:rPr lang="en-US" sz="1200" err="1">
                          <a:solidFill>
                            <a:schemeClr val="tx1"/>
                          </a:solidFill>
                          <a:effectLst/>
                        </a:rPr>
                        <a:t>partir</a:t>
                      </a:r>
                      <a:r>
                        <a:rPr lang="en-US" sz="1200">
                          <a:solidFill>
                            <a:schemeClr val="tx1"/>
                          </a:solidFill>
                          <a:effectLst/>
                        </a:rPr>
                        <a:t> de </a:t>
                      </a:r>
                      <a:r>
                        <a:rPr lang="en-US" sz="1200" err="1">
                          <a:solidFill>
                            <a:schemeClr val="tx1"/>
                          </a:solidFill>
                          <a:effectLst/>
                        </a:rPr>
                        <a:t>semillas</a:t>
                      </a:r>
                      <a:r>
                        <a:rPr lang="en-US" sz="1200">
                          <a:solidFill>
                            <a:schemeClr val="tx1"/>
                          </a:solidFill>
                          <a:effectLst/>
                        </a:rPr>
                        <a:t> </a:t>
                      </a:r>
                      <a:r>
                        <a:rPr lang="en-US" sz="1200" err="1">
                          <a:solidFill>
                            <a:schemeClr val="tx1"/>
                          </a:solidFill>
                          <a:effectLst/>
                        </a:rPr>
                        <a:t>mediante</a:t>
                      </a:r>
                      <a:r>
                        <a:rPr lang="en-US" sz="1200">
                          <a:solidFill>
                            <a:schemeClr val="tx1"/>
                          </a:solidFill>
                          <a:effectLst/>
                        </a:rPr>
                        <a:t> </a:t>
                      </a:r>
                      <a:r>
                        <a:rPr lang="en-US" sz="1200" err="1">
                          <a:solidFill>
                            <a:schemeClr val="tx1"/>
                          </a:solidFill>
                          <a:effectLst/>
                        </a:rPr>
                        <a:t>flujo</a:t>
                      </a:r>
                      <a:r>
                        <a:rPr lang="en-US" sz="1200">
                          <a:solidFill>
                            <a:schemeClr val="tx1"/>
                          </a:solidFill>
                          <a:effectLst/>
                        </a:rPr>
                        <a:t> </a:t>
                      </a:r>
                      <a:r>
                        <a:rPr lang="en-US" sz="1200" err="1">
                          <a:solidFill>
                            <a:schemeClr val="tx1"/>
                          </a:solidFill>
                          <a:effectLst/>
                        </a:rPr>
                        <a:t>geométrico</a:t>
                      </a:r>
                      <a:r>
                        <a:rPr lang="en-US" sz="1200">
                          <a:solidFill>
                            <a:schemeClr val="tx1"/>
                          </a:solidFill>
                          <a:effectLst/>
                        </a:rPr>
                        <a:t>.</a:t>
                      </a:r>
                    </a:p>
                  </a:txBody>
                  <a:tcPr marL="102005" marR="102005" marT="51003" marB="51003" anchor="ctr"/>
                </a:tc>
                <a:extLst>
                  <a:ext uri="{0D108BD9-81ED-4DB2-BD59-A6C34878D82A}">
                    <a16:rowId xmlns:a16="http://schemas.microsoft.com/office/drawing/2014/main" val="2463284543"/>
                  </a:ext>
                </a:extLst>
              </a:tr>
              <a:tr h="516826">
                <a:tc>
                  <a:txBody>
                    <a:bodyPr/>
                    <a:lstStyle/>
                    <a:p>
                      <a:pPr>
                        <a:buNone/>
                      </a:pPr>
                      <a:r>
                        <a:rPr lang="en-US" sz="1200" err="1">
                          <a:solidFill>
                            <a:schemeClr val="tx1"/>
                          </a:solidFill>
                          <a:effectLst/>
                        </a:rPr>
                        <a:t>Waterpixels</a:t>
                      </a:r>
                      <a:r>
                        <a:rPr lang="en-US" sz="1200">
                          <a:solidFill>
                            <a:schemeClr val="tx1"/>
                          </a:solidFill>
                          <a:effectLst/>
                        </a:rPr>
                        <a:t> (WP)</a:t>
                      </a:r>
                    </a:p>
                  </a:txBody>
                  <a:tcPr marL="102005" marR="102005" marT="51003" marB="51003" anchor="ctr"/>
                </a:tc>
                <a:tc>
                  <a:txBody>
                    <a:bodyPr/>
                    <a:lstStyle/>
                    <a:p>
                      <a:pPr>
                        <a:buNone/>
                      </a:pPr>
                      <a:r>
                        <a:rPr lang="en-US" sz="1200" err="1">
                          <a:solidFill>
                            <a:schemeClr val="tx1"/>
                          </a:solidFill>
                          <a:effectLst/>
                        </a:rPr>
                        <a:t>Basado</a:t>
                      </a:r>
                      <a:r>
                        <a:rPr lang="en-US" sz="1200">
                          <a:solidFill>
                            <a:schemeClr val="tx1"/>
                          </a:solidFill>
                          <a:effectLst/>
                        </a:rPr>
                        <a:t> </a:t>
                      </a:r>
                      <a:r>
                        <a:rPr lang="en-US" sz="1200" err="1">
                          <a:solidFill>
                            <a:schemeClr val="tx1"/>
                          </a:solidFill>
                          <a:effectLst/>
                        </a:rPr>
                        <a:t>en</a:t>
                      </a:r>
                      <a:r>
                        <a:rPr lang="en-US" sz="1200">
                          <a:solidFill>
                            <a:schemeClr val="tx1"/>
                          </a:solidFill>
                          <a:effectLst/>
                        </a:rPr>
                        <a:t> Watershed</a:t>
                      </a:r>
                    </a:p>
                  </a:txBody>
                  <a:tcPr marL="102005" marR="102005" marT="51003" marB="51003" anchor="ctr"/>
                </a:tc>
                <a:tc>
                  <a:txBody>
                    <a:bodyPr/>
                    <a:lstStyle/>
                    <a:p>
                      <a:pPr>
                        <a:buNone/>
                      </a:pPr>
                      <a:r>
                        <a:rPr lang="en-US" sz="1200">
                          <a:solidFill>
                            <a:schemeClr val="tx1"/>
                          </a:solidFill>
                          <a:effectLst/>
                        </a:rPr>
                        <a:t>O(N) (Lineal)</a:t>
                      </a:r>
                    </a:p>
                  </a:txBody>
                  <a:tcPr marL="102005" marR="102005" marT="51003" marB="51003" anchor="ctr"/>
                </a:tc>
                <a:tc>
                  <a:txBody>
                    <a:bodyPr/>
                    <a:lstStyle/>
                    <a:p>
                      <a:pPr>
                        <a:buNone/>
                      </a:pPr>
                      <a:r>
                        <a:rPr lang="en-US" sz="1200" err="1">
                          <a:solidFill>
                            <a:schemeClr val="tx1"/>
                          </a:solidFill>
                          <a:effectLst/>
                        </a:rPr>
                        <a:t>Transformada</a:t>
                      </a:r>
                      <a:r>
                        <a:rPr lang="en-US" sz="1200">
                          <a:solidFill>
                            <a:schemeClr val="tx1"/>
                          </a:solidFill>
                          <a:effectLst/>
                        </a:rPr>
                        <a:t> Watershed con </a:t>
                      </a:r>
                      <a:r>
                        <a:rPr lang="en-US" sz="1200" err="1">
                          <a:solidFill>
                            <a:schemeClr val="tx1"/>
                          </a:solidFill>
                          <a:effectLst/>
                        </a:rPr>
                        <a:t>gradiente</a:t>
                      </a:r>
                      <a:r>
                        <a:rPr lang="en-US" sz="1200">
                          <a:solidFill>
                            <a:schemeClr val="tx1"/>
                          </a:solidFill>
                          <a:effectLst/>
                        </a:rPr>
                        <a:t> </a:t>
                      </a:r>
                      <a:r>
                        <a:rPr lang="en-US" sz="1200" err="1">
                          <a:solidFill>
                            <a:schemeClr val="tx1"/>
                          </a:solidFill>
                          <a:effectLst/>
                        </a:rPr>
                        <a:t>regularizado</a:t>
                      </a:r>
                      <a:r>
                        <a:rPr lang="en-US" sz="1200">
                          <a:solidFill>
                            <a:schemeClr val="tx1"/>
                          </a:solidFill>
                          <a:effectLst/>
                        </a:rPr>
                        <a:t>.</a:t>
                      </a:r>
                    </a:p>
                  </a:txBody>
                  <a:tcPr marL="102005" marR="102005" marT="51003" marB="51003" anchor="ctr"/>
                </a:tc>
                <a:extLst>
                  <a:ext uri="{0D108BD9-81ED-4DB2-BD59-A6C34878D82A}">
                    <a16:rowId xmlns:a16="http://schemas.microsoft.com/office/drawing/2014/main" val="2255867553"/>
                  </a:ext>
                </a:extLst>
              </a:tr>
            </a:tbl>
          </a:graphicData>
        </a:graphic>
      </p:graphicFrame>
    </p:spTree>
    <p:extLst>
      <p:ext uri="{BB962C8B-B14F-4D97-AF65-F5344CB8AC3E}">
        <p14:creationId xmlns:p14="http://schemas.microsoft.com/office/powerpoint/2010/main" val="40031662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149FB5C3-7336-4FE0-A30C-CC0A3646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6" name="Rectangle 15">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6A6CEE0E-7DF6-42F5-C848-AB747F167687}"/>
              </a:ext>
            </a:extLst>
          </p:cNvPr>
          <p:cNvSpPr>
            <a:spLocks noGrp="1"/>
          </p:cNvSpPr>
          <p:nvPr>
            <p:ph type="title"/>
          </p:nvPr>
        </p:nvSpPr>
        <p:spPr>
          <a:xfrm>
            <a:off x="1057025" y="922644"/>
            <a:ext cx="5040285" cy="1169585"/>
          </a:xfrm>
        </p:spPr>
        <p:txBody>
          <a:bodyPr anchor="b">
            <a:normAutofit/>
          </a:bodyPr>
          <a:lstStyle/>
          <a:p>
            <a:r>
              <a:rPr lang="en-US" sz="3700">
                <a:ea typeface="+mj-lt"/>
                <a:cs typeface="+mj-lt"/>
              </a:rPr>
              <a:t>SLIC (Simple Linear Iterative Clustering)</a:t>
            </a:r>
            <a:endParaRPr lang="en-US" sz="3700"/>
          </a:p>
        </p:txBody>
      </p:sp>
      <p:sp>
        <p:nvSpPr>
          <p:cNvPr id="21" name="Rectangle 20">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62591E6-2F8C-EF83-48E7-A6D9541D673A}"/>
              </a:ext>
            </a:extLst>
          </p:cNvPr>
          <p:cNvSpPr>
            <a:spLocks noGrp="1"/>
          </p:cNvSpPr>
          <p:nvPr>
            <p:ph idx="1"/>
          </p:nvPr>
        </p:nvSpPr>
        <p:spPr>
          <a:xfrm>
            <a:off x="1055715" y="2508105"/>
            <a:ext cx="5040285" cy="3256316"/>
          </a:xfrm>
        </p:spPr>
        <p:txBody>
          <a:bodyPr vert="horz" lIns="91440" tIns="45720" rIns="91440" bIns="45720" rtlCol="0" anchor="ctr">
            <a:normAutofit lnSpcReduction="10000"/>
          </a:bodyPr>
          <a:lstStyle/>
          <a:p>
            <a:r>
              <a:rPr lang="es-MX" sz="2000" b="1"/>
              <a:t>Mecanismo: </a:t>
            </a:r>
            <a:r>
              <a:rPr lang="es-MX" sz="2000"/>
              <a:t>Adapta k-means para agrpupar en espacio de 5 dimensiones (Labxy)</a:t>
            </a:r>
            <a:endParaRPr lang="en-US" sz="2000"/>
          </a:p>
          <a:p>
            <a:r>
              <a:rPr lang="es-MX" sz="2000" b="1"/>
              <a:t>Eficiencia:</a:t>
            </a:r>
            <a:r>
              <a:rPr lang="es-MX" sz="2000"/>
              <a:t> Su complejidad es lineal en el número de píxeles O(N)</a:t>
            </a:r>
            <a:endParaRPr lang="en-US" sz="2000"/>
          </a:p>
          <a:p>
            <a:r>
              <a:rPr lang="es-MX" sz="2000" b="1"/>
              <a:t>Distancia: </a:t>
            </a:r>
            <a:r>
              <a:rPr lang="es-MX" sz="2000"/>
              <a:t>Utiliza una métrica de distancia ponderada que combina distancia espacial y de color.</a:t>
            </a:r>
            <a:endParaRPr lang="en-US" sz="2000"/>
          </a:p>
          <a:p>
            <a:r>
              <a:rPr lang="es-MX" sz="2000" b="1"/>
              <a:t>Limitaciones: </a:t>
            </a:r>
            <a:r>
              <a:rPr lang="es-MX" sz="2000"/>
              <a:t>Requiere múltiples iteraciones para que los centroides converjan.</a:t>
            </a:r>
          </a:p>
        </p:txBody>
      </p:sp>
      <p:pic>
        <p:nvPicPr>
          <p:cNvPr id="8" name="Picture 7" descr="A math equations with numbers and symbols&#10;&#10;AI-generated content may be incorrect.">
            <a:extLst>
              <a:ext uri="{FF2B5EF4-FFF2-40B4-BE49-F238E27FC236}">
                <a16:creationId xmlns:a16="http://schemas.microsoft.com/office/drawing/2014/main" id="{7AE91BC9-8661-1772-4BAD-68AECCC1B8BA}"/>
              </a:ext>
            </a:extLst>
          </p:cNvPr>
          <p:cNvPicPr>
            <a:picLocks noChangeAspect="1"/>
          </p:cNvPicPr>
          <p:nvPr/>
        </p:nvPicPr>
        <p:blipFill>
          <a:blip r:embed="rId3"/>
          <a:stretch>
            <a:fillRect/>
          </a:stretch>
        </p:blipFill>
        <p:spPr>
          <a:xfrm>
            <a:off x="5210464" y="4138245"/>
            <a:ext cx="1755880" cy="577084"/>
          </a:xfrm>
          <a:prstGeom prst="rect">
            <a:avLst/>
          </a:prstGeom>
        </p:spPr>
      </p:pic>
      <p:grpSp>
        <p:nvGrpSpPr>
          <p:cNvPr id="7" name="Group 6">
            <a:extLst>
              <a:ext uri="{FF2B5EF4-FFF2-40B4-BE49-F238E27FC236}">
                <a16:creationId xmlns:a16="http://schemas.microsoft.com/office/drawing/2014/main" id="{D877B3C5-19CC-FC2F-790F-F97771FFA5F8}"/>
              </a:ext>
            </a:extLst>
          </p:cNvPr>
          <p:cNvGrpSpPr/>
          <p:nvPr/>
        </p:nvGrpSpPr>
        <p:grpSpPr>
          <a:xfrm>
            <a:off x="7332491" y="2830463"/>
            <a:ext cx="4389121" cy="1593980"/>
            <a:chOff x="6340327" y="982153"/>
            <a:chExt cx="6042265" cy="2194346"/>
          </a:xfrm>
        </p:grpSpPr>
        <p:pic>
          <p:nvPicPr>
            <p:cNvPr id="4" name="Picture 3" descr="A diagram of a square with arrows and a square with a letter s&#10;&#10;AI-generated content may be incorrect.">
              <a:extLst>
                <a:ext uri="{FF2B5EF4-FFF2-40B4-BE49-F238E27FC236}">
                  <a16:creationId xmlns:a16="http://schemas.microsoft.com/office/drawing/2014/main" id="{EC56631A-3213-919E-6BF4-29850D95E87C}"/>
                </a:ext>
              </a:extLst>
            </p:cNvPr>
            <p:cNvPicPr>
              <a:picLocks noChangeAspect="1"/>
            </p:cNvPicPr>
            <p:nvPr/>
          </p:nvPicPr>
          <p:blipFill>
            <a:blip r:embed="rId4"/>
            <a:stretch>
              <a:fillRect/>
            </a:stretch>
          </p:blipFill>
          <p:spPr>
            <a:xfrm>
              <a:off x="6340327" y="982153"/>
              <a:ext cx="3019425" cy="2190750"/>
            </a:xfrm>
            <a:prstGeom prst="rect">
              <a:avLst/>
            </a:prstGeom>
          </p:spPr>
        </p:pic>
        <p:pic>
          <p:nvPicPr>
            <p:cNvPr id="5" name="Picture 4" descr="A diagram of a square with arrows and a square with a square in the middle&#10;&#10;AI-generated content may be incorrect.">
              <a:extLst>
                <a:ext uri="{FF2B5EF4-FFF2-40B4-BE49-F238E27FC236}">
                  <a16:creationId xmlns:a16="http://schemas.microsoft.com/office/drawing/2014/main" id="{F0E2D687-58AA-D0BE-BCA5-C0B42EECA49F}"/>
                </a:ext>
              </a:extLst>
            </p:cNvPr>
            <p:cNvPicPr>
              <a:picLocks noChangeAspect="1"/>
            </p:cNvPicPr>
            <p:nvPr/>
          </p:nvPicPr>
          <p:blipFill>
            <a:blip r:embed="rId5"/>
            <a:stretch>
              <a:fillRect/>
            </a:stretch>
          </p:blipFill>
          <p:spPr>
            <a:xfrm>
              <a:off x="9363167" y="985749"/>
              <a:ext cx="3019425" cy="2190750"/>
            </a:xfrm>
            <a:prstGeom prst="rect">
              <a:avLst/>
            </a:prstGeom>
          </p:spPr>
        </p:pic>
      </p:grpSp>
    </p:spTree>
    <p:extLst>
      <p:ext uri="{BB962C8B-B14F-4D97-AF65-F5344CB8AC3E}">
        <p14:creationId xmlns:p14="http://schemas.microsoft.com/office/powerpoint/2010/main" val="8132496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1C1DC14-7BC3-34F3-7551-EED732BC93B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ECD067A-58BC-7A5B-E6E4-3E1891847C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4C998367-00A4-F3BB-0FD0-270A69E76E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AA3A1612-E0A8-EE49-E0A6-1C710A2FE8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D12BDA3-59CE-7522-CD10-8E09BDB41020}"/>
              </a:ext>
            </a:extLst>
          </p:cNvPr>
          <p:cNvSpPr>
            <a:spLocks noGrp="1"/>
          </p:cNvSpPr>
          <p:nvPr>
            <p:ph type="title"/>
          </p:nvPr>
        </p:nvSpPr>
        <p:spPr>
          <a:xfrm>
            <a:off x="1285240" y="1050595"/>
            <a:ext cx="8836815" cy="1618489"/>
          </a:xfrm>
        </p:spPr>
        <p:txBody>
          <a:bodyPr anchor="ctr">
            <a:normAutofit/>
          </a:bodyPr>
          <a:lstStyle/>
          <a:p>
            <a:pPr algn="ctr"/>
            <a:r>
              <a:rPr lang="en-US" sz="7200" dirty="0" err="1"/>
              <a:t>Aplicaciones</a:t>
            </a:r>
          </a:p>
        </p:txBody>
      </p:sp>
      <p:sp>
        <p:nvSpPr>
          <p:cNvPr id="3" name="Content Placeholder 2">
            <a:extLst>
              <a:ext uri="{FF2B5EF4-FFF2-40B4-BE49-F238E27FC236}">
                <a16:creationId xmlns:a16="http://schemas.microsoft.com/office/drawing/2014/main" id="{BF95771E-6E6F-CC90-CFA4-F5E377882D1C}"/>
              </a:ext>
            </a:extLst>
          </p:cNvPr>
          <p:cNvSpPr>
            <a:spLocks noGrp="1"/>
          </p:cNvSpPr>
          <p:nvPr>
            <p:ph idx="1"/>
          </p:nvPr>
        </p:nvSpPr>
        <p:spPr>
          <a:xfrm>
            <a:off x="1285240" y="2969469"/>
            <a:ext cx="8074815" cy="2800395"/>
          </a:xfrm>
        </p:spPr>
        <p:txBody>
          <a:bodyPr anchor="t">
            <a:normAutofit/>
          </a:bodyPr>
          <a:lstStyle/>
          <a:p>
            <a:endParaRPr lang="en-US" sz="2400"/>
          </a:p>
        </p:txBody>
      </p:sp>
    </p:spTree>
    <p:extLst>
      <p:ext uri="{BB962C8B-B14F-4D97-AF65-F5344CB8AC3E}">
        <p14:creationId xmlns:p14="http://schemas.microsoft.com/office/powerpoint/2010/main" val="8513275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744C9FE-76B5-8881-C844-1EE79B81FD37}"/>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49FB5C3-7336-4FE0-A30C-CC0A3646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4" name="Rectangle 13">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478F8FC4-AF78-87E4-FAF1-5423A3A7CEA9}"/>
              </a:ext>
            </a:extLst>
          </p:cNvPr>
          <p:cNvSpPr>
            <a:spLocks noGrp="1"/>
          </p:cNvSpPr>
          <p:nvPr>
            <p:ph type="title"/>
          </p:nvPr>
        </p:nvSpPr>
        <p:spPr>
          <a:xfrm>
            <a:off x="1057025" y="922644"/>
            <a:ext cx="5040285" cy="1169585"/>
          </a:xfrm>
        </p:spPr>
        <p:txBody>
          <a:bodyPr anchor="b">
            <a:normAutofit/>
          </a:bodyPr>
          <a:lstStyle/>
          <a:p>
            <a:r>
              <a:rPr lang="es-MX" sz="3700"/>
              <a:t>Análisis de Imágenes Médicas</a:t>
            </a:r>
            <a:endParaRPr lang="en-US" sz="3700"/>
          </a:p>
        </p:txBody>
      </p:sp>
      <p:sp>
        <p:nvSpPr>
          <p:cNvPr id="19" name="Rectangle 18">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7299A36-A402-EC61-F3A5-BF4AFE33EFC8}"/>
              </a:ext>
            </a:extLst>
          </p:cNvPr>
          <p:cNvSpPr>
            <a:spLocks noGrp="1"/>
          </p:cNvSpPr>
          <p:nvPr>
            <p:ph idx="1"/>
          </p:nvPr>
        </p:nvSpPr>
        <p:spPr>
          <a:xfrm>
            <a:off x="1055715" y="2508105"/>
            <a:ext cx="5040285" cy="3632493"/>
          </a:xfrm>
        </p:spPr>
        <p:txBody>
          <a:bodyPr vert="horz" lIns="91440" tIns="45720" rIns="91440" bIns="45720" rtlCol="0" anchor="ctr">
            <a:normAutofit/>
          </a:bodyPr>
          <a:lstStyle/>
          <a:p>
            <a:pPr>
              <a:buNone/>
            </a:pPr>
            <a:r>
              <a:rPr lang="es-MX" sz="1700" b="1">
                <a:ea typeface="+mn-lt"/>
                <a:cs typeface="+mn-lt"/>
              </a:rPr>
              <a:t>• Segmentación de Estructuras Celulares/Órganos:</a:t>
            </a:r>
            <a:r>
              <a:rPr lang="es-MX" sz="1700">
                <a:ea typeface="+mn-lt"/>
                <a:cs typeface="+mn-lt"/>
              </a:rPr>
              <a:t> Se utilizan para simplificar el grafo de la imagen, haciendo que la segmentación de estructuras como mitocondrias en micrografías electrónicas (EM) sea viable.</a:t>
            </a:r>
            <a:endParaRPr lang="es-MX" sz="1700"/>
          </a:p>
          <a:p>
            <a:pPr>
              <a:buNone/>
            </a:pPr>
            <a:r>
              <a:rPr lang="es-MX" sz="1700">
                <a:ea typeface="+mn-lt"/>
                <a:cs typeface="+mn-lt"/>
              </a:rPr>
              <a:t>• </a:t>
            </a:r>
            <a:r>
              <a:rPr lang="es-MX" sz="1700" b="1">
                <a:ea typeface="+mn-lt"/>
                <a:cs typeface="+mn-lt"/>
              </a:rPr>
              <a:t>Detección de Enfermedades:</a:t>
            </a:r>
            <a:r>
              <a:rPr lang="es-MX" sz="1700">
                <a:ea typeface="+mn-lt"/>
                <a:cs typeface="+mn-lt"/>
              </a:rPr>
              <a:t> Se utilizan para la detección de glaucoma mediante clasificación y en la detección de cáncer de cabeza y cuello utilizando imágenes hiperespectrales. </a:t>
            </a:r>
            <a:endParaRPr lang="es-MX" sz="1700"/>
          </a:p>
          <a:p>
            <a:pPr marL="0" indent="0">
              <a:buNone/>
            </a:pPr>
            <a:r>
              <a:rPr lang="es-MX" sz="1700">
                <a:ea typeface="+mn-lt"/>
                <a:cs typeface="+mn-lt"/>
              </a:rPr>
              <a:t>• </a:t>
            </a:r>
            <a:r>
              <a:rPr lang="es-MX" sz="1700" b="1">
                <a:ea typeface="+mn-lt"/>
                <a:cs typeface="+mn-lt"/>
              </a:rPr>
              <a:t>Reducción de Ruido:</a:t>
            </a:r>
            <a:r>
              <a:rPr lang="es-MX" sz="1700">
                <a:ea typeface="+mn-lt"/>
                <a:cs typeface="+mn-lt"/>
              </a:rPr>
              <a:t> Ayudan a la robustez contra el ruido y sesgos al agrupar píxeles y trabajar con promedios de región</a:t>
            </a:r>
            <a:endParaRPr lang="es-MX" sz="1700"/>
          </a:p>
        </p:txBody>
      </p:sp>
      <p:pic>
        <p:nvPicPr>
          <p:cNvPr id="6" name="Picture 5" descr="A close-up of a skin&#10;&#10;AI-generated content may be incorrect.">
            <a:extLst>
              <a:ext uri="{FF2B5EF4-FFF2-40B4-BE49-F238E27FC236}">
                <a16:creationId xmlns:a16="http://schemas.microsoft.com/office/drawing/2014/main" id="{E896574B-BF62-F35C-6538-134B12C4D011}"/>
              </a:ext>
            </a:extLst>
          </p:cNvPr>
          <p:cNvPicPr>
            <a:picLocks noChangeAspect="1"/>
          </p:cNvPicPr>
          <p:nvPr/>
        </p:nvPicPr>
        <p:blipFill>
          <a:blip r:embed="rId3"/>
          <a:stretch>
            <a:fillRect/>
          </a:stretch>
        </p:blipFill>
        <p:spPr>
          <a:xfrm>
            <a:off x="7097196" y="1459120"/>
            <a:ext cx="2708745" cy="2002439"/>
          </a:xfrm>
          <a:prstGeom prst="rect">
            <a:avLst/>
          </a:prstGeom>
        </p:spPr>
      </p:pic>
      <p:pic>
        <p:nvPicPr>
          <p:cNvPr id="5" name="Picture 4" descr="A close-up of a brown spot&#10;&#10;AI-generated content may be incorrect.">
            <a:extLst>
              <a:ext uri="{FF2B5EF4-FFF2-40B4-BE49-F238E27FC236}">
                <a16:creationId xmlns:a16="http://schemas.microsoft.com/office/drawing/2014/main" id="{D364F0CE-5C40-DBE0-7A0F-530F1827124D}"/>
              </a:ext>
            </a:extLst>
          </p:cNvPr>
          <p:cNvPicPr>
            <a:picLocks noChangeAspect="1"/>
          </p:cNvPicPr>
          <p:nvPr/>
        </p:nvPicPr>
        <p:blipFill>
          <a:blip r:embed="rId4"/>
          <a:stretch>
            <a:fillRect/>
          </a:stretch>
        </p:blipFill>
        <p:spPr>
          <a:xfrm>
            <a:off x="7097196" y="3632947"/>
            <a:ext cx="2708745" cy="2002439"/>
          </a:xfrm>
          <a:prstGeom prst="rect">
            <a:avLst/>
          </a:prstGeom>
        </p:spPr>
      </p:pic>
    </p:spTree>
    <p:extLst>
      <p:ext uri="{BB962C8B-B14F-4D97-AF65-F5344CB8AC3E}">
        <p14:creationId xmlns:p14="http://schemas.microsoft.com/office/powerpoint/2010/main" val="26199165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782809C-EDA9-2FFA-493F-C5B6B511DF2A}"/>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EFC920F-B85A-4068-BD93-41064EDE93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1C559108-BBAE-426C-8564-051D2BA6DDC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2" name="Rectangle 11">
              <a:extLst>
                <a:ext uri="{FF2B5EF4-FFF2-40B4-BE49-F238E27FC236}">
                  <a16:creationId xmlns:a16="http://schemas.microsoft.com/office/drawing/2014/main" id="{42BC35EE-6650-42D2-AEFB-4B7CD1AFC9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952C743-9049-4DFB-878B-2AB07B6E4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CCD9FDD3-45BC-BA08-AB3F-F620049C9A8D}"/>
              </a:ext>
            </a:extLst>
          </p:cNvPr>
          <p:cNvSpPr>
            <a:spLocks noGrp="1"/>
          </p:cNvSpPr>
          <p:nvPr>
            <p:ph type="title"/>
          </p:nvPr>
        </p:nvSpPr>
        <p:spPr>
          <a:xfrm>
            <a:off x="1099425" y="1238081"/>
            <a:ext cx="4709345" cy="962953"/>
          </a:xfrm>
        </p:spPr>
        <p:txBody>
          <a:bodyPr anchor="b">
            <a:normAutofit/>
          </a:bodyPr>
          <a:lstStyle/>
          <a:p>
            <a:r>
              <a:rPr lang="es-MX" sz="2900"/>
              <a:t>Reconocimiento de Objetos</a:t>
            </a:r>
            <a:endParaRPr lang="en-US" sz="2900"/>
          </a:p>
        </p:txBody>
      </p:sp>
      <p:sp>
        <p:nvSpPr>
          <p:cNvPr id="17" name="Rectangle 16">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39885" y="2372170"/>
            <a:ext cx="438912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5394CC5-5294-D92B-0653-A9FC2DA0B2F5}"/>
              </a:ext>
            </a:extLst>
          </p:cNvPr>
          <p:cNvSpPr>
            <a:spLocks noGrp="1"/>
          </p:cNvSpPr>
          <p:nvPr>
            <p:ph idx="1"/>
          </p:nvPr>
        </p:nvSpPr>
        <p:spPr>
          <a:xfrm>
            <a:off x="1139318" y="2508105"/>
            <a:ext cx="4670763" cy="2272468"/>
          </a:xfrm>
        </p:spPr>
        <p:txBody>
          <a:bodyPr vert="horz" lIns="91440" tIns="45720" rIns="91440" bIns="45720" rtlCol="0" anchor="ctr">
            <a:normAutofit/>
          </a:bodyPr>
          <a:lstStyle/>
          <a:p>
            <a:pPr>
              <a:buNone/>
            </a:pPr>
            <a:r>
              <a:rPr lang="es-MX" sz="2000" b="1">
                <a:ea typeface="+mn-lt"/>
                <a:cs typeface="+mn-lt"/>
              </a:rPr>
              <a:t>• Segmentación Semántica y Clasificación de Clases:</a:t>
            </a:r>
            <a:r>
              <a:rPr lang="es-MX" sz="2000">
                <a:ea typeface="+mn-lt"/>
                <a:cs typeface="+mn-lt"/>
              </a:rPr>
              <a:t> Permiten la localización de objetos.</a:t>
            </a:r>
            <a:endParaRPr lang="en-US" sz="2000">
              <a:ea typeface="+mn-lt"/>
              <a:cs typeface="+mn-lt"/>
            </a:endParaRPr>
          </a:p>
          <a:p>
            <a:pPr>
              <a:buNone/>
            </a:pPr>
            <a:r>
              <a:rPr lang="es-MX" sz="2000" b="1">
                <a:ea typeface="+mn-lt"/>
                <a:cs typeface="+mn-lt"/>
              </a:rPr>
              <a:t>• Localización y Seguimiento: </a:t>
            </a:r>
            <a:r>
              <a:rPr lang="es-MX" sz="2000">
                <a:ea typeface="+mn-lt"/>
                <a:cs typeface="+mn-lt"/>
              </a:rPr>
              <a:t>Se utilizan como base para el seguimiento en videos.</a:t>
            </a:r>
          </a:p>
        </p:txBody>
      </p:sp>
      <p:pic>
        <p:nvPicPr>
          <p:cNvPr id="4" name="Picture 3" descr="A group of people standing in a room&#10;&#10;AI-generated content may be incorrect.">
            <a:extLst>
              <a:ext uri="{FF2B5EF4-FFF2-40B4-BE49-F238E27FC236}">
                <a16:creationId xmlns:a16="http://schemas.microsoft.com/office/drawing/2014/main" id="{5C1907A3-C37D-2410-17A3-69A7DF019741}"/>
              </a:ext>
            </a:extLst>
          </p:cNvPr>
          <p:cNvPicPr>
            <a:picLocks noChangeAspect="1"/>
          </p:cNvPicPr>
          <p:nvPr/>
        </p:nvPicPr>
        <p:blipFill>
          <a:blip r:embed="rId3"/>
          <a:srcRect l="8063" r="14223" b="2"/>
          <a:stretch>
            <a:fillRect/>
          </a:stretch>
        </p:blipFill>
        <p:spPr>
          <a:xfrm>
            <a:off x="7430460" y="2122950"/>
            <a:ext cx="3665529" cy="3531883"/>
          </a:xfrm>
          <a:prstGeom prst="rect">
            <a:avLst/>
          </a:prstGeom>
        </p:spPr>
      </p:pic>
    </p:spTree>
    <p:extLst>
      <p:ext uri="{BB962C8B-B14F-4D97-AF65-F5344CB8AC3E}">
        <p14:creationId xmlns:p14="http://schemas.microsoft.com/office/powerpoint/2010/main" val="33420513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CEF9443-2C9D-CAA2-9848-C95943AD4EB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00E0F77-E936-4985-B7B1-B9823486AC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7E0014-EC97-F635-AFFE-8B98749EA5CC}"/>
              </a:ext>
            </a:extLst>
          </p:cNvPr>
          <p:cNvSpPr>
            <a:spLocks noGrp="1"/>
          </p:cNvSpPr>
          <p:nvPr>
            <p:ph type="title"/>
          </p:nvPr>
        </p:nvSpPr>
        <p:spPr>
          <a:xfrm>
            <a:off x="517889" y="4883544"/>
            <a:ext cx="3876086" cy="1556907"/>
          </a:xfrm>
        </p:spPr>
        <p:txBody>
          <a:bodyPr anchor="ctr">
            <a:normAutofit/>
          </a:bodyPr>
          <a:lstStyle/>
          <a:p>
            <a:r>
              <a:rPr lang="es-MX" sz="3200">
                <a:ea typeface="+mj-lt"/>
                <a:cs typeface="+mj-lt"/>
              </a:rPr>
              <a:t>Extracción de características y Procesamiento</a:t>
            </a:r>
            <a:endParaRPr lang="en-US" sz="3200"/>
          </a:p>
        </p:txBody>
      </p:sp>
      <p:sp>
        <p:nvSpPr>
          <p:cNvPr id="10" name="Rectangle 9">
            <a:extLst>
              <a:ext uri="{FF2B5EF4-FFF2-40B4-BE49-F238E27FC236}">
                <a16:creationId xmlns:a16="http://schemas.microsoft.com/office/drawing/2014/main" id="{95C8260E-968F-44E8-A823-ABB4313119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8658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screenshot of a grid&#10;&#10;AI-generated content may be incorrect.">
            <a:extLst>
              <a:ext uri="{FF2B5EF4-FFF2-40B4-BE49-F238E27FC236}">
                <a16:creationId xmlns:a16="http://schemas.microsoft.com/office/drawing/2014/main" id="{5628ABD3-78D1-D90F-C0E1-61BB7909769D}"/>
              </a:ext>
            </a:extLst>
          </p:cNvPr>
          <p:cNvPicPr>
            <a:picLocks noChangeAspect="1"/>
          </p:cNvPicPr>
          <p:nvPr/>
        </p:nvPicPr>
        <p:blipFill>
          <a:blip r:embed="rId3"/>
          <a:stretch>
            <a:fillRect/>
          </a:stretch>
        </p:blipFill>
        <p:spPr>
          <a:xfrm>
            <a:off x="814521" y="1869453"/>
            <a:ext cx="10369645" cy="1918383"/>
          </a:xfrm>
          <a:prstGeom prst="rect">
            <a:avLst/>
          </a:prstGeom>
        </p:spPr>
      </p:pic>
      <p:sp>
        <p:nvSpPr>
          <p:cNvPr id="14" name="Rectangle 13">
            <a:extLst>
              <a:ext uri="{FF2B5EF4-FFF2-40B4-BE49-F238E27FC236}">
                <a16:creationId xmlns:a16="http://schemas.microsoft.com/office/drawing/2014/main" id="{FE43805F-24A6-46A4-B19B-54F2834735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01107" y="5661132"/>
            <a:ext cx="1463040"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E4135FA-1E6F-9958-216A-FDD1FE985D88}"/>
              </a:ext>
            </a:extLst>
          </p:cNvPr>
          <p:cNvSpPr>
            <a:spLocks noGrp="1"/>
          </p:cNvSpPr>
          <p:nvPr>
            <p:ph idx="1"/>
          </p:nvPr>
        </p:nvSpPr>
        <p:spPr>
          <a:xfrm>
            <a:off x="5162719" y="4883544"/>
            <a:ext cx="6586915" cy="1556907"/>
          </a:xfrm>
        </p:spPr>
        <p:txBody>
          <a:bodyPr vert="horz" lIns="91440" tIns="45720" rIns="91440" bIns="45720" rtlCol="0" anchor="ctr">
            <a:normAutofit/>
          </a:bodyPr>
          <a:lstStyle/>
          <a:p>
            <a:pPr>
              <a:buNone/>
            </a:pPr>
            <a:r>
              <a:rPr lang="es-MX" sz="1400" b="1">
                <a:ea typeface="+mn-lt"/>
                <a:cs typeface="+mn-lt"/>
              </a:rPr>
              <a:t>• Representación Compacta:</a:t>
            </a:r>
            <a:r>
              <a:rPr lang="es-MX" sz="1400">
                <a:ea typeface="+mn-lt"/>
                <a:cs typeface="+mn-lt"/>
              </a:rPr>
              <a:t> Permiten una representación de imagen compacta.</a:t>
            </a:r>
          </a:p>
          <a:p>
            <a:pPr>
              <a:buNone/>
            </a:pPr>
            <a:r>
              <a:rPr lang="es-MX" sz="1400" b="1">
                <a:ea typeface="+mn-lt"/>
                <a:cs typeface="+mn-lt"/>
              </a:rPr>
              <a:t>• Base para Algoritmos de Segmentación:</a:t>
            </a:r>
            <a:r>
              <a:rPr lang="es-MX" sz="1400">
                <a:ea typeface="+mn-lt"/>
                <a:cs typeface="+mn-lt"/>
              </a:rPr>
              <a:t> Ej: en Graph Cuts, la afinidad puede definirse sobre superpíxeles en lugar de píxeles.</a:t>
            </a:r>
            <a:endParaRPr lang="en-US" sz="1400">
              <a:ea typeface="+mn-lt"/>
              <a:cs typeface="+mn-lt"/>
            </a:endParaRPr>
          </a:p>
          <a:p>
            <a:pPr>
              <a:buNone/>
            </a:pPr>
            <a:r>
              <a:rPr lang="es-MX" sz="1400" b="1">
                <a:ea typeface="+mn-lt"/>
                <a:cs typeface="+mn-lt"/>
              </a:rPr>
              <a:t>• Análisis de Imágenes Hiperespectrales (HSI):</a:t>
            </a:r>
            <a:r>
              <a:rPr lang="es-MX" sz="1400">
                <a:ea typeface="+mn-lt"/>
                <a:cs typeface="+mn-lt"/>
              </a:rPr>
              <a:t> Ayudan en tareas como la reducción de dimensionalidad.</a:t>
            </a:r>
            <a:endParaRPr lang="es-MX" sz="1400"/>
          </a:p>
        </p:txBody>
      </p:sp>
    </p:spTree>
    <p:extLst>
      <p:ext uri="{BB962C8B-B14F-4D97-AF65-F5344CB8AC3E}">
        <p14:creationId xmlns:p14="http://schemas.microsoft.com/office/powerpoint/2010/main" val="40069766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DEDCC5D-8B8A-40DB-BE90-A3AA27C64A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3" name="Rectangle 12">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C8C4CAEC-188F-6FC9-32B1-C0D99C1BB30F}"/>
              </a:ext>
            </a:extLst>
          </p:cNvPr>
          <p:cNvSpPr>
            <a:spLocks noGrp="1"/>
          </p:cNvSpPr>
          <p:nvPr>
            <p:ph type="title"/>
          </p:nvPr>
        </p:nvSpPr>
        <p:spPr>
          <a:xfrm>
            <a:off x="1282963" y="1238080"/>
            <a:ext cx="9849751" cy="1349671"/>
          </a:xfrm>
        </p:spPr>
        <p:txBody>
          <a:bodyPr anchor="b">
            <a:normAutofit/>
          </a:bodyPr>
          <a:lstStyle/>
          <a:p>
            <a:r>
              <a:rPr lang="es-MX" sz="5400"/>
              <a:t>Ventajas / Desafíos</a:t>
            </a:r>
          </a:p>
        </p:txBody>
      </p:sp>
      <p:graphicFrame>
        <p:nvGraphicFramePr>
          <p:cNvPr id="5" name="Content Placeholder 4">
            <a:extLst>
              <a:ext uri="{FF2B5EF4-FFF2-40B4-BE49-F238E27FC236}">
                <a16:creationId xmlns:a16="http://schemas.microsoft.com/office/drawing/2014/main" id="{B4241D0B-B68B-5EA8-3225-2C77674032F4}"/>
              </a:ext>
            </a:extLst>
          </p:cNvPr>
          <p:cNvGraphicFramePr>
            <a:graphicFrameLocks noGrp="1"/>
          </p:cNvGraphicFramePr>
          <p:nvPr>
            <p:ph idx="1"/>
            <p:extLst>
              <p:ext uri="{D42A27DB-BD31-4B8C-83A1-F6EECF244321}">
                <p14:modId xmlns:p14="http://schemas.microsoft.com/office/powerpoint/2010/main" val="1582376624"/>
              </p:ext>
            </p:extLst>
          </p:nvPr>
        </p:nvGraphicFramePr>
        <p:xfrm>
          <a:off x="1284626" y="3148387"/>
          <a:ext cx="9848088" cy="2610006"/>
        </p:xfrm>
        <a:graphic>
          <a:graphicData uri="http://schemas.openxmlformats.org/drawingml/2006/table">
            <a:tbl>
              <a:tblPr firstRow="1" bandRow="1">
                <a:tableStyleId>{9D7B26C5-4107-4FEC-AEDC-1716B250A1EF}</a:tableStyleId>
              </a:tblPr>
              <a:tblGrid>
                <a:gridCol w="4925798">
                  <a:extLst>
                    <a:ext uri="{9D8B030D-6E8A-4147-A177-3AD203B41FA5}">
                      <a16:colId xmlns:a16="http://schemas.microsoft.com/office/drawing/2014/main" val="3578438952"/>
                    </a:ext>
                  </a:extLst>
                </a:gridCol>
                <a:gridCol w="4922290">
                  <a:extLst>
                    <a:ext uri="{9D8B030D-6E8A-4147-A177-3AD203B41FA5}">
                      <a16:colId xmlns:a16="http://schemas.microsoft.com/office/drawing/2014/main" val="2241358151"/>
                    </a:ext>
                  </a:extLst>
                </a:gridCol>
              </a:tblGrid>
              <a:tr h="552629">
                <a:tc>
                  <a:txBody>
                    <a:bodyPr/>
                    <a:lstStyle/>
                    <a:p>
                      <a:pPr algn="ctr" rtl="0" fontAlgn="t">
                        <a:buNone/>
                      </a:pPr>
                      <a:r>
                        <a:rPr lang="es-MX" sz="2600" u="none" strike="noStrike" noProof="0">
                          <a:solidFill>
                            <a:srgbClr val="000000"/>
                          </a:solidFill>
                          <a:effectLst/>
                        </a:rPr>
                        <a:t>Ventajas</a:t>
                      </a:r>
                      <a:endParaRPr lang="es-MX" sz="2600" noProof="0">
                        <a:effectLst/>
                      </a:endParaRPr>
                    </a:p>
                  </a:txBody>
                  <a:tcPr marL="59448" marR="59448" marT="59448" marB="59448"/>
                </a:tc>
                <a:tc>
                  <a:txBody>
                    <a:bodyPr/>
                    <a:lstStyle/>
                    <a:p>
                      <a:pPr algn="ctr" rtl="0" fontAlgn="t">
                        <a:buNone/>
                      </a:pPr>
                      <a:r>
                        <a:rPr lang="es-MX" sz="2600" u="none" strike="noStrike" noProof="0">
                          <a:solidFill>
                            <a:srgbClr val="000000"/>
                          </a:solidFill>
                          <a:effectLst/>
                        </a:rPr>
                        <a:t>Limitaciones</a:t>
                      </a:r>
                      <a:endParaRPr lang="es-MX" sz="2600" noProof="0">
                        <a:effectLst/>
                      </a:endParaRPr>
                    </a:p>
                  </a:txBody>
                  <a:tcPr marL="59448" marR="59448" marT="59448" marB="59448"/>
                </a:tc>
                <a:extLst>
                  <a:ext uri="{0D108BD9-81ED-4DB2-BD59-A6C34878D82A}">
                    <a16:rowId xmlns:a16="http://schemas.microsoft.com/office/drawing/2014/main" val="3804817639"/>
                  </a:ext>
                </a:extLst>
              </a:tr>
              <a:tr h="552629">
                <a:tc>
                  <a:txBody>
                    <a:bodyPr/>
                    <a:lstStyle/>
                    <a:p>
                      <a:pPr rtl="0" fontAlgn="t">
                        <a:buNone/>
                      </a:pPr>
                      <a:r>
                        <a:rPr lang="es-MX" sz="2600" u="none" strike="noStrike" noProof="0">
                          <a:solidFill>
                            <a:srgbClr val="000000"/>
                          </a:solidFill>
                          <a:effectLst/>
                        </a:rPr>
                        <a:t>Reducción de complejidad</a:t>
                      </a:r>
                      <a:endParaRPr lang="es-MX" sz="2600" noProof="0">
                        <a:effectLst/>
                      </a:endParaRPr>
                    </a:p>
                  </a:txBody>
                  <a:tcPr marL="59448" marR="59448" marT="59448" marB="59448"/>
                </a:tc>
                <a:tc>
                  <a:txBody>
                    <a:bodyPr/>
                    <a:lstStyle/>
                    <a:p>
                      <a:pPr rtl="0" fontAlgn="t">
                        <a:buNone/>
                      </a:pPr>
                      <a:r>
                        <a:rPr lang="es-MX" sz="2600" u="none" strike="noStrike" noProof="0">
                          <a:solidFill>
                            <a:srgbClr val="000000"/>
                          </a:solidFill>
                          <a:effectLst/>
                        </a:rPr>
                        <a:t>Parámetros sensibles</a:t>
                      </a:r>
                      <a:endParaRPr lang="es-MX" sz="2600" noProof="0">
                        <a:effectLst/>
                      </a:endParaRPr>
                    </a:p>
                  </a:txBody>
                  <a:tcPr marL="59448" marR="59448" marT="59448" marB="59448"/>
                </a:tc>
                <a:extLst>
                  <a:ext uri="{0D108BD9-81ED-4DB2-BD59-A6C34878D82A}">
                    <a16:rowId xmlns:a16="http://schemas.microsoft.com/office/drawing/2014/main" val="223288661"/>
                  </a:ext>
                </a:extLst>
              </a:tr>
              <a:tr h="552629">
                <a:tc>
                  <a:txBody>
                    <a:bodyPr/>
                    <a:lstStyle/>
                    <a:p>
                      <a:pPr rtl="0" fontAlgn="t">
                        <a:buNone/>
                      </a:pPr>
                      <a:r>
                        <a:rPr lang="es-MX" sz="2600" u="none" strike="noStrike" noProof="0">
                          <a:solidFill>
                            <a:srgbClr val="000000"/>
                          </a:solidFill>
                          <a:effectLst/>
                        </a:rPr>
                        <a:t>Preservan bordes</a:t>
                      </a:r>
                      <a:endParaRPr lang="es-MX" sz="2600" noProof="0">
                        <a:effectLst/>
                      </a:endParaRPr>
                    </a:p>
                  </a:txBody>
                  <a:tcPr marL="59448" marR="59448" marT="59448" marB="59448"/>
                </a:tc>
                <a:tc>
                  <a:txBody>
                    <a:bodyPr/>
                    <a:lstStyle/>
                    <a:p>
                      <a:pPr rtl="0" fontAlgn="t">
                        <a:buNone/>
                      </a:pPr>
                      <a:r>
                        <a:rPr lang="es-MX" sz="2600" u="none" strike="noStrike" noProof="0">
                          <a:solidFill>
                            <a:srgbClr val="000000"/>
                          </a:solidFill>
                          <a:effectLst/>
                        </a:rPr>
                        <a:t>Dificultad en texturas suaves</a:t>
                      </a:r>
                      <a:endParaRPr lang="es-MX" sz="2600" noProof="0">
                        <a:effectLst/>
                      </a:endParaRPr>
                    </a:p>
                  </a:txBody>
                  <a:tcPr marL="59448" marR="59448" marT="59448" marB="59448"/>
                </a:tc>
                <a:extLst>
                  <a:ext uri="{0D108BD9-81ED-4DB2-BD59-A6C34878D82A}">
                    <a16:rowId xmlns:a16="http://schemas.microsoft.com/office/drawing/2014/main" val="578497480"/>
                  </a:ext>
                </a:extLst>
              </a:tr>
              <a:tr h="952119">
                <a:tc>
                  <a:txBody>
                    <a:bodyPr/>
                    <a:lstStyle/>
                    <a:p>
                      <a:pPr rtl="0" fontAlgn="t">
                        <a:buNone/>
                      </a:pPr>
                      <a:r>
                        <a:rPr lang="es-MX" sz="2600" u="none" strike="noStrike" noProof="0">
                          <a:solidFill>
                            <a:srgbClr val="000000"/>
                          </a:solidFill>
                          <a:effectLst/>
                        </a:rPr>
                        <a:t>Mejoran el rendimiento de pasos posteriores</a:t>
                      </a:r>
                    </a:p>
                  </a:txBody>
                  <a:tcPr marL="59448" marR="59448" marT="59448" marB="59448"/>
                </a:tc>
                <a:tc>
                  <a:txBody>
                    <a:bodyPr/>
                    <a:lstStyle/>
                    <a:p>
                      <a:pPr rtl="0" fontAlgn="t">
                        <a:buNone/>
                      </a:pPr>
                      <a:r>
                        <a:rPr lang="es-MX" sz="2600" u="none" strike="noStrike" noProof="0">
                          <a:solidFill>
                            <a:srgbClr val="000000"/>
                          </a:solidFill>
                          <a:effectLst/>
                        </a:rPr>
                        <a:t>Inconsistencia entre imágenes</a:t>
                      </a:r>
                      <a:endParaRPr lang="es-MX" sz="2600" noProof="0">
                        <a:effectLst/>
                      </a:endParaRPr>
                    </a:p>
                  </a:txBody>
                  <a:tcPr marL="59448" marR="59448" marT="59448" marB="59448"/>
                </a:tc>
                <a:extLst>
                  <a:ext uri="{0D108BD9-81ED-4DB2-BD59-A6C34878D82A}">
                    <a16:rowId xmlns:a16="http://schemas.microsoft.com/office/drawing/2014/main" val="1932402601"/>
                  </a:ext>
                </a:extLst>
              </a:tr>
            </a:tbl>
          </a:graphicData>
        </a:graphic>
      </p:graphicFrame>
    </p:spTree>
    <p:extLst>
      <p:ext uri="{BB962C8B-B14F-4D97-AF65-F5344CB8AC3E}">
        <p14:creationId xmlns:p14="http://schemas.microsoft.com/office/powerpoint/2010/main" val="29344235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4BF2E6B-F6A9-5D81-E1AE-3BA8CED02D17}"/>
              </a:ext>
            </a:extLst>
          </p:cNvPr>
          <p:cNvSpPr>
            <a:spLocks noGrp="1"/>
          </p:cNvSpPr>
          <p:nvPr>
            <p:ph type="title"/>
          </p:nvPr>
        </p:nvSpPr>
        <p:spPr>
          <a:xfrm>
            <a:off x="1282963" y="1238080"/>
            <a:ext cx="9849751" cy="1349671"/>
          </a:xfrm>
        </p:spPr>
        <p:txBody>
          <a:bodyPr anchor="b">
            <a:normAutofit/>
          </a:bodyPr>
          <a:lstStyle/>
          <a:p>
            <a:r>
              <a:rPr lang="es-MX" sz="5400"/>
              <a:t>Evolución</a:t>
            </a:r>
          </a:p>
        </p:txBody>
      </p:sp>
      <p:sp>
        <p:nvSpPr>
          <p:cNvPr id="3" name="Content Placeholder 2">
            <a:extLst>
              <a:ext uri="{FF2B5EF4-FFF2-40B4-BE49-F238E27FC236}">
                <a16:creationId xmlns:a16="http://schemas.microsoft.com/office/drawing/2014/main" id="{609EC184-1CE6-B68D-156C-250EA2781F54}"/>
              </a:ext>
            </a:extLst>
          </p:cNvPr>
          <p:cNvSpPr>
            <a:spLocks noGrp="1"/>
          </p:cNvSpPr>
          <p:nvPr>
            <p:ph idx="1"/>
          </p:nvPr>
        </p:nvSpPr>
        <p:spPr>
          <a:xfrm>
            <a:off x="1289304" y="2902913"/>
            <a:ext cx="9849751" cy="3032168"/>
          </a:xfrm>
        </p:spPr>
        <p:txBody>
          <a:bodyPr vert="horz" lIns="91440" tIns="45720" rIns="91440" bIns="45720" rtlCol="0" anchor="ctr">
            <a:normAutofit/>
          </a:bodyPr>
          <a:lstStyle/>
          <a:p>
            <a:r>
              <a:rPr lang="es-MX" sz="2000">
                <a:ea typeface="+mn-lt"/>
                <a:cs typeface="+mn-lt"/>
              </a:rPr>
              <a:t>El futuro del uso de superpíxeles está estrechamente ligado a las arquitecturas de Deep Learning</a:t>
            </a:r>
          </a:p>
          <a:p>
            <a:pPr lvl="1">
              <a:buFont typeface="Courier New" panose="020B0604020202020204" pitchFamily="34" charset="0"/>
              <a:buChar char="o"/>
            </a:pPr>
            <a:r>
              <a:rPr lang="es-MX" sz="2000" b="1">
                <a:ea typeface="+mn-lt"/>
                <a:cs typeface="+mn-lt"/>
              </a:rPr>
              <a:t>Redes Convolucionales (CNN) y Módulos Diferenciables</a:t>
            </a:r>
            <a:endParaRPr lang="es-MX" sz="2000"/>
          </a:p>
          <a:p>
            <a:pPr lvl="1">
              <a:buFont typeface="Courier New" panose="020B0604020202020204" pitchFamily="34" charset="0"/>
              <a:buChar char="o"/>
            </a:pPr>
            <a:r>
              <a:rPr lang="es-MX" sz="2000" b="1">
                <a:latin typeface="Aptos"/>
                <a:ea typeface="Calibri"/>
                <a:cs typeface="Calibri"/>
              </a:rPr>
              <a:t>Entrenamiento de Extremo a Extremo (End-to-End)</a:t>
            </a:r>
            <a:endParaRPr lang="es-MX" sz="2000">
              <a:ea typeface="+mn-lt"/>
              <a:cs typeface="+mn-lt"/>
            </a:endParaRPr>
          </a:p>
          <a:p>
            <a:pPr lvl="1">
              <a:buFont typeface="Courier New" panose="020B0604020202020204" pitchFamily="34" charset="0"/>
              <a:buChar char="o"/>
            </a:pPr>
            <a:r>
              <a:rPr lang="es-MX" sz="2000" b="1">
                <a:ea typeface="+mn-lt"/>
                <a:cs typeface="+mn-lt"/>
              </a:rPr>
              <a:t>Superpíxeles como Primitivas de Alto Nivel</a:t>
            </a:r>
            <a:endParaRPr lang="es-MX" sz="2000">
              <a:ea typeface="+mn-lt"/>
              <a:cs typeface="+mn-lt"/>
            </a:endParaRPr>
          </a:p>
          <a:p>
            <a:pPr lvl="1">
              <a:buFont typeface="Courier New" panose="020B0604020202020204" pitchFamily="34" charset="0"/>
              <a:buChar char="o"/>
            </a:pPr>
            <a:r>
              <a:rPr lang="es-MX" sz="2000" b="1">
                <a:ea typeface="+mn-lt"/>
                <a:cs typeface="+mn-lt"/>
              </a:rPr>
              <a:t>Enfoques No Supervisados/Sin Ground Truth</a:t>
            </a:r>
            <a:endParaRPr lang="es-MX" sz="2000"/>
          </a:p>
        </p:txBody>
      </p:sp>
    </p:spTree>
    <p:extLst>
      <p:ext uri="{BB962C8B-B14F-4D97-AF65-F5344CB8AC3E}">
        <p14:creationId xmlns:p14="http://schemas.microsoft.com/office/powerpoint/2010/main" val="42740666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20" name="Rectangle 19">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BD6F52F-E11F-A5E0-607A-AEB2E5EE5928}"/>
              </a:ext>
            </a:extLst>
          </p:cNvPr>
          <p:cNvSpPr>
            <a:spLocks noGrp="1"/>
          </p:cNvSpPr>
          <p:nvPr>
            <p:ph type="title"/>
          </p:nvPr>
        </p:nvSpPr>
        <p:spPr>
          <a:xfrm>
            <a:off x="1292609" y="244586"/>
            <a:ext cx="9849751" cy="1349671"/>
          </a:xfrm>
        </p:spPr>
        <p:txBody>
          <a:bodyPr anchor="b">
            <a:normAutofit/>
          </a:bodyPr>
          <a:lstStyle/>
          <a:p>
            <a:r>
              <a:rPr lang="en-US" sz="5400"/>
              <a:t>Referencias</a:t>
            </a:r>
          </a:p>
        </p:txBody>
      </p:sp>
      <p:sp>
        <p:nvSpPr>
          <p:cNvPr id="3" name="Content Placeholder 2">
            <a:extLst>
              <a:ext uri="{FF2B5EF4-FFF2-40B4-BE49-F238E27FC236}">
                <a16:creationId xmlns:a16="http://schemas.microsoft.com/office/drawing/2014/main" id="{90CF7BDA-371C-CEB9-EA20-B86037DEBD6C}"/>
              </a:ext>
            </a:extLst>
          </p:cNvPr>
          <p:cNvSpPr>
            <a:spLocks noGrp="1"/>
          </p:cNvSpPr>
          <p:nvPr>
            <p:ph idx="1"/>
          </p:nvPr>
        </p:nvSpPr>
        <p:spPr>
          <a:xfrm>
            <a:off x="1289304" y="1591116"/>
            <a:ext cx="9849751" cy="4276447"/>
          </a:xfrm>
        </p:spPr>
        <p:txBody>
          <a:bodyPr vert="horz" lIns="91440" tIns="45720" rIns="91440" bIns="45720" rtlCol="0" anchor="ctr">
            <a:normAutofit/>
          </a:bodyPr>
          <a:lstStyle/>
          <a:p>
            <a:r>
              <a:rPr lang="en-US" sz="1050" dirty="0">
                <a:ea typeface="+mn-lt"/>
                <a:cs typeface="+mn-lt"/>
              </a:rPr>
              <a:t>X. Ren and J. Malik, “Learning a classification model for segmentation,” in </a:t>
            </a:r>
            <a:r>
              <a:rPr lang="en-US" sz="1050" i="1" dirty="0">
                <a:ea typeface="+mn-lt"/>
                <a:cs typeface="+mn-lt"/>
              </a:rPr>
              <a:t>Proceedings of the IEEE International Conference on Computer Vision (ICCV)</a:t>
            </a:r>
            <a:r>
              <a:rPr lang="en-US" sz="1050" dirty="0">
                <a:ea typeface="+mn-lt"/>
                <a:cs typeface="+mn-lt"/>
              </a:rPr>
              <a:t>, Nice, France, 2003, pp. 10–17.</a:t>
            </a:r>
          </a:p>
          <a:p>
            <a:r>
              <a:rPr lang="en-US" sz="1050" dirty="0">
                <a:ea typeface="+mn-lt"/>
                <a:cs typeface="+mn-lt"/>
              </a:rPr>
              <a:t>P. F. </a:t>
            </a:r>
            <a:r>
              <a:rPr lang="en-US" sz="1050" err="1">
                <a:ea typeface="+mn-lt"/>
                <a:cs typeface="+mn-lt"/>
              </a:rPr>
              <a:t>Felzenszwalb</a:t>
            </a:r>
            <a:r>
              <a:rPr lang="en-US" sz="1050" dirty="0">
                <a:ea typeface="+mn-lt"/>
                <a:cs typeface="+mn-lt"/>
              </a:rPr>
              <a:t> and D. P. </a:t>
            </a:r>
            <a:r>
              <a:rPr lang="en-US" sz="1050" err="1">
                <a:ea typeface="+mn-lt"/>
                <a:cs typeface="+mn-lt"/>
              </a:rPr>
              <a:t>Huttenlocher</a:t>
            </a:r>
            <a:r>
              <a:rPr lang="en-US" sz="1050" dirty="0">
                <a:ea typeface="+mn-lt"/>
                <a:cs typeface="+mn-lt"/>
              </a:rPr>
              <a:t>, “Efficient graph-based image segmentation,” International Journal of Computer Vision, vol. 59, no. 2, pp. 167–181, Sep. 2004.</a:t>
            </a:r>
          </a:p>
          <a:p>
            <a:r>
              <a:rPr lang="en-US" sz="1050" dirty="0">
                <a:ea typeface="+mn-lt"/>
                <a:cs typeface="+mn-lt"/>
              </a:rPr>
              <a:t>A. </a:t>
            </a:r>
            <a:r>
              <a:rPr lang="en-US" sz="1050" err="1">
                <a:ea typeface="+mn-lt"/>
                <a:cs typeface="+mn-lt"/>
              </a:rPr>
              <a:t>Levinshtein</a:t>
            </a:r>
            <a:r>
              <a:rPr lang="en-US" sz="1050" dirty="0">
                <a:ea typeface="+mn-lt"/>
                <a:cs typeface="+mn-lt"/>
              </a:rPr>
              <a:t> </a:t>
            </a:r>
            <a:r>
              <a:rPr lang="en-US" sz="1050" i="1" dirty="0">
                <a:ea typeface="+mn-lt"/>
                <a:cs typeface="+mn-lt"/>
              </a:rPr>
              <a:t>et al.</a:t>
            </a:r>
            <a:r>
              <a:rPr lang="en-US" sz="1050" dirty="0">
                <a:ea typeface="+mn-lt"/>
                <a:cs typeface="+mn-lt"/>
              </a:rPr>
              <a:t>, “</a:t>
            </a:r>
            <a:r>
              <a:rPr lang="en-US" sz="1050" err="1">
                <a:ea typeface="+mn-lt"/>
                <a:cs typeface="+mn-lt"/>
              </a:rPr>
              <a:t>TurboPixels</a:t>
            </a:r>
            <a:r>
              <a:rPr lang="en-US" sz="1050" dirty="0">
                <a:ea typeface="+mn-lt"/>
                <a:cs typeface="+mn-lt"/>
              </a:rPr>
              <a:t>: Fast </a:t>
            </a:r>
            <a:r>
              <a:rPr lang="en-US" sz="1050" err="1">
                <a:ea typeface="+mn-lt"/>
                <a:cs typeface="+mn-lt"/>
              </a:rPr>
              <a:t>superpixels</a:t>
            </a:r>
            <a:r>
              <a:rPr lang="en-US" sz="1050" dirty="0">
                <a:ea typeface="+mn-lt"/>
                <a:cs typeface="+mn-lt"/>
              </a:rPr>
              <a:t> using geometric flows,” </a:t>
            </a:r>
            <a:r>
              <a:rPr lang="en-US" sz="1050" i="1" dirty="0">
                <a:ea typeface="+mn-lt"/>
                <a:cs typeface="+mn-lt"/>
              </a:rPr>
              <a:t>IEEE Transactions on Pattern Analysis and Machine Intelligence</a:t>
            </a:r>
            <a:r>
              <a:rPr lang="en-US" sz="1050" dirty="0">
                <a:ea typeface="+mn-lt"/>
                <a:cs typeface="+mn-lt"/>
              </a:rPr>
              <a:t>, vol. 31, no. 12, pp. 2290–2297, Dec. 2009.</a:t>
            </a:r>
          </a:p>
          <a:p>
            <a:r>
              <a:rPr lang="en-US" sz="1050" dirty="0">
                <a:ea typeface="+mn-lt"/>
                <a:cs typeface="+mn-lt"/>
              </a:rPr>
              <a:t>R. Achanta, A. Shaji, K. Smith, A. Lucchi, P. Fua and S. </a:t>
            </a:r>
            <a:r>
              <a:rPr lang="en-US" sz="1050" err="1">
                <a:ea typeface="+mn-lt"/>
                <a:cs typeface="+mn-lt"/>
              </a:rPr>
              <a:t>Süsstrunk</a:t>
            </a:r>
            <a:r>
              <a:rPr lang="en-US" sz="1050" dirty="0">
                <a:ea typeface="+mn-lt"/>
                <a:cs typeface="+mn-lt"/>
              </a:rPr>
              <a:t>, “SLIC </a:t>
            </a:r>
            <a:r>
              <a:rPr lang="en-US" sz="1050" err="1">
                <a:ea typeface="+mn-lt"/>
                <a:cs typeface="+mn-lt"/>
              </a:rPr>
              <a:t>superpixels</a:t>
            </a:r>
            <a:r>
              <a:rPr lang="en-US" sz="1050" dirty="0">
                <a:ea typeface="+mn-lt"/>
                <a:cs typeface="+mn-lt"/>
              </a:rPr>
              <a:t> compared to state-of-the-art </a:t>
            </a:r>
            <a:r>
              <a:rPr lang="en-US" sz="1050" err="1">
                <a:ea typeface="+mn-lt"/>
                <a:cs typeface="+mn-lt"/>
              </a:rPr>
              <a:t>superpixel</a:t>
            </a:r>
            <a:r>
              <a:rPr lang="en-US" sz="1050" dirty="0">
                <a:ea typeface="+mn-lt"/>
                <a:cs typeface="+mn-lt"/>
              </a:rPr>
              <a:t> methods,” </a:t>
            </a:r>
            <a:r>
              <a:rPr lang="en-US" sz="1050" i="1" dirty="0">
                <a:ea typeface="+mn-lt"/>
                <a:cs typeface="+mn-lt"/>
              </a:rPr>
              <a:t>IEEE Transactions on Pattern Analysis and Machine Intelligence</a:t>
            </a:r>
            <a:r>
              <a:rPr lang="en-US" sz="1050" dirty="0">
                <a:ea typeface="+mn-lt"/>
                <a:cs typeface="+mn-lt"/>
              </a:rPr>
              <a:t>, vol. 34, no. 11, pp. 2274–2282, Nov. 2012.</a:t>
            </a:r>
          </a:p>
          <a:p>
            <a:r>
              <a:rPr lang="en-US" sz="1050" dirty="0">
                <a:ea typeface="+mn-lt"/>
                <a:cs typeface="+mn-lt"/>
              </a:rPr>
              <a:t>R. Achanta and S. </a:t>
            </a:r>
            <a:r>
              <a:rPr lang="en-US" sz="1050" err="1">
                <a:ea typeface="+mn-lt"/>
                <a:cs typeface="+mn-lt"/>
              </a:rPr>
              <a:t>Süsstrunk</a:t>
            </a:r>
            <a:r>
              <a:rPr lang="en-US" sz="1050" dirty="0">
                <a:ea typeface="+mn-lt"/>
                <a:cs typeface="+mn-lt"/>
              </a:rPr>
              <a:t>, “</a:t>
            </a:r>
            <a:r>
              <a:rPr lang="en-US" sz="1050" err="1">
                <a:ea typeface="+mn-lt"/>
                <a:cs typeface="+mn-lt"/>
              </a:rPr>
              <a:t>Superpixels</a:t>
            </a:r>
            <a:r>
              <a:rPr lang="en-US" sz="1050" dirty="0">
                <a:ea typeface="+mn-lt"/>
                <a:cs typeface="+mn-lt"/>
              </a:rPr>
              <a:t> and polygons using simple non-iterative clustering,” in </a:t>
            </a:r>
            <a:r>
              <a:rPr lang="en-US" sz="1050" i="1" dirty="0">
                <a:ea typeface="+mn-lt"/>
                <a:cs typeface="+mn-lt"/>
              </a:rPr>
              <a:t>Proceedings of the IEEE Conference on Computer Vision and Pattern Recognition (CVPR)</a:t>
            </a:r>
            <a:r>
              <a:rPr lang="en-US" sz="1050" dirty="0">
                <a:ea typeface="+mn-lt"/>
                <a:cs typeface="+mn-lt"/>
              </a:rPr>
              <a:t>, Honolulu, HI, USA, 2017, pp. 4651–4660.</a:t>
            </a:r>
            <a:endParaRPr lang="en-US" sz="1050"/>
          </a:p>
          <a:p>
            <a:r>
              <a:rPr lang="en-US" sz="1050" dirty="0">
                <a:ea typeface="+mn-lt"/>
                <a:cs typeface="+mn-lt"/>
              </a:rPr>
              <a:t>D. Stutz, A. Hermans and B. Leibe, “</a:t>
            </a:r>
            <a:r>
              <a:rPr lang="en-US" sz="1050" err="1">
                <a:ea typeface="+mn-lt"/>
                <a:cs typeface="+mn-lt"/>
              </a:rPr>
              <a:t>Superpixels</a:t>
            </a:r>
            <a:r>
              <a:rPr lang="en-US" sz="1050" dirty="0">
                <a:ea typeface="+mn-lt"/>
                <a:cs typeface="+mn-lt"/>
              </a:rPr>
              <a:t>: An evaluation of the state-of-the-art,” </a:t>
            </a:r>
            <a:r>
              <a:rPr lang="en-US" sz="1050" i="1" dirty="0">
                <a:ea typeface="+mn-lt"/>
                <a:cs typeface="+mn-lt"/>
              </a:rPr>
              <a:t>Computer Vision and Image Understanding</a:t>
            </a:r>
            <a:r>
              <a:rPr lang="en-US" sz="1050" dirty="0">
                <a:ea typeface="+mn-lt"/>
                <a:cs typeface="+mn-lt"/>
              </a:rPr>
              <a:t>, vol. 166, pp. 1–27, Jan. 2018.</a:t>
            </a:r>
          </a:p>
          <a:p>
            <a:r>
              <a:rPr lang="en-US" sz="1050" dirty="0">
                <a:ea typeface="+mn-lt"/>
                <a:cs typeface="+mn-lt"/>
              </a:rPr>
              <a:t>S. Subudhi, J. G. Dy and E. Learned-Miller, “A survey on </a:t>
            </a:r>
            <a:r>
              <a:rPr lang="en-US" sz="1050" err="1">
                <a:ea typeface="+mn-lt"/>
                <a:cs typeface="+mn-lt"/>
              </a:rPr>
              <a:t>superpixel</a:t>
            </a:r>
            <a:r>
              <a:rPr lang="en-US" sz="1050" dirty="0">
                <a:ea typeface="+mn-lt"/>
                <a:cs typeface="+mn-lt"/>
              </a:rPr>
              <a:t> segmentation as a preprocessing step in hyperspectral image analysis,” </a:t>
            </a:r>
            <a:r>
              <a:rPr lang="en-US" sz="1050" i="1" dirty="0">
                <a:ea typeface="+mn-lt"/>
                <a:cs typeface="+mn-lt"/>
              </a:rPr>
              <a:t>IEEE Journal of Selected Topics in Applied Earth Observations and Remote Sensing</a:t>
            </a:r>
            <a:r>
              <a:rPr lang="en-US" sz="1050" dirty="0">
                <a:ea typeface="+mn-lt"/>
                <a:cs typeface="+mn-lt"/>
              </a:rPr>
              <a:t>, vol. 14, pp. 4470–4489, 2021.</a:t>
            </a:r>
          </a:p>
          <a:p>
            <a:r>
              <a:rPr lang="en-US" sz="1050" dirty="0">
                <a:ea typeface="+mn-lt"/>
                <a:cs typeface="+mn-lt"/>
              </a:rPr>
              <a:t>J. Prakash and B. V. Kumar, “An extensive survey on </a:t>
            </a:r>
            <a:r>
              <a:rPr lang="en-US" sz="1050" err="1">
                <a:ea typeface="+mn-lt"/>
                <a:cs typeface="+mn-lt"/>
              </a:rPr>
              <a:t>superpixel</a:t>
            </a:r>
            <a:r>
              <a:rPr lang="en-US" sz="1050" dirty="0">
                <a:ea typeface="+mn-lt"/>
                <a:cs typeface="+mn-lt"/>
              </a:rPr>
              <a:t> segmentation: A research perspective,” </a:t>
            </a:r>
            <a:r>
              <a:rPr lang="en-US" sz="1050" i="1" dirty="0">
                <a:ea typeface="+mn-lt"/>
                <a:cs typeface="+mn-lt"/>
              </a:rPr>
              <a:t>International Journal of Advanced Computer Science and Applications (IJACSA)</a:t>
            </a:r>
            <a:r>
              <a:rPr lang="en-US" sz="1050" dirty="0">
                <a:ea typeface="+mn-lt"/>
                <a:cs typeface="+mn-lt"/>
              </a:rPr>
              <a:t>, vol. 12, no. 4, pp. 496–503, 2021.</a:t>
            </a:r>
          </a:p>
          <a:p>
            <a:r>
              <a:rPr lang="en-US" sz="1050" dirty="0">
                <a:ea typeface="+mn-lt"/>
                <a:cs typeface="+mn-lt"/>
              </a:rPr>
              <a:t>I. B. Barcelos, J. B. Florindo and O. M. Bruno, “A comprehensive review and new taxonomy on </a:t>
            </a:r>
            <a:r>
              <a:rPr lang="en-US" sz="1050" err="1">
                <a:ea typeface="+mn-lt"/>
                <a:cs typeface="+mn-lt"/>
              </a:rPr>
              <a:t>superpixel</a:t>
            </a:r>
            <a:r>
              <a:rPr lang="en-US" sz="1050" dirty="0">
                <a:ea typeface="+mn-lt"/>
                <a:cs typeface="+mn-lt"/>
              </a:rPr>
              <a:t> segmentation,” </a:t>
            </a:r>
            <a:r>
              <a:rPr lang="en-US" sz="1050" i="1" dirty="0">
                <a:ea typeface="+mn-lt"/>
                <a:cs typeface="+mn-lt"/>
              </a:rPr>
              <a:t>Journal of Imaging</a:t>
            </a:r>
            <a:r>
              <a:rPr lang="en-US" sz="1050" dirty="0">
                <a:ea typeface="+mn-lt"/>
                <a:cs typeface="+mn-lt"/>
              </a:rPr>
              <a:t>, vol. 9, no. 3, p. 69, 2023.</a:t>
            </a:r>
          </a:p>
          <a:p>
            <a:r>
              <a:rPr lang="en-US" sz="1050" dirty="0">
                <a:ea typeface="+mn-lt"/>
                <a:cs typeface="+mn-lt"/>
              </a:rPr>
              <a:t>B. </a:t>
            </a:r>
            <a:r>
              <a:rPr lang="en-US" sz="1050" dirty="0" err="1">
                <a:ea typeface="+mn-lt"/>
                <a:cs typeface="+mn-lt"/>
              </a:rPr>
              <a:t>Sasmal</a:t>
            </a:r>
            <a:r>
              <a:rPr lang="en-US" sz="1050" dirty="0">
                <a:ea typeface="+mn-lt"/>
                <a:cs typeface="+mn-lt"/>
              </a:rPr>
              <a:t>, A. Maiti and N. Dey, “A survey on the utilization of </a:t>
            </a:r>
            <a:r>
              <a:rPr lang="en-US" sz="1050" dirty="0" err="1">
                <a:ea typeface="+mn-lt"/>
                <a:cs typeface="+mn-lt"/>
              </a:rPr>
              <a:t>superpixel</a:t>
            </a:r>
            <a:r>
              <a:rPr lang="en-US" sz="1050" dirty="0">
                <a:ea typeface="+mn-lt"/>
                <a:cs typeface="+mn-lt"/>
              </a:rPr>
              <a:t> image for clustering based image segmentation,” in </a:t>
            </a:r>
            <a:r>
              <a:rPr lang="en-US" sz="1050" i="1" dirty="0">
                <a:ea typeface="+mn-lt"/>
                <a:cs typeface="+mn-lt"/>
              </a:rPr>
              <a:t>Proceedings of the International Conference on Research in Intelligent and Computing in Engineering (RICE)</a:t>
            </a:r>
            <a:r>
              <a:rPr lang="en-US" sz="1050" dirty="0">
                <a:ea typeface="+mn-lt"/>
                <a:cs typeface="+mn-lt"/>
              </a:rPr>
              <a:t>, 2020, pp. 1–7.</a:t>
            </a:r>
          </a:p>
        </p:txBody>
      </p:sp>
    </p:spTree>
    <p:extLst>
      <p:ext uri="{BB962C8B-B14F-4D97-AF65-F5344CB8AC3E}">
        <p14:creationId xmlns:p14="http://schemas.microsoft.com/office/powerpoint/2010/main" val="29075955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20</Slides>
  <Notes>13</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Visión Computacional - Superpixels</vt:lpstr>
      <vt:lpstr>Introducción</vt:lpstr>
      <vt:lpstr>¿Qué es un superpíxel?</vt:lpstr>
      <vt:lpstr>Historia y Motivación</vt:lpstr>
      <vt:lpstr>Timeline</vt:lpstr>
      <vt:lpstr>¿Por qué son útiles?</vt:lpstr>
      <vt:lpstr>Fundamentos</vt:lpstr>
      <vt:lpstr>¿Cómo funcionan los superpixels?</vt:lpstr>
      <vt:lpstr>Cualidades Deseables</vt:lpstr>
      <vt:lpstr>Clasificación de métodos</vt:lpstr>
      <vt:lpstr>Tipos de Algoritmos</vt:lpstr>
      <vt:lpstr>Comparativa de algunos Algoritmos</vt:lpstr>
      <vt:lpstr>SLIC (Simple Linear Iterative Clustering)</vt:lpstr>
      <vt:lpstr>Aplicaciones</vt:lpstr>
      <vt:lpstr>Análisis de Imágenes Médicas</vt:lpstr>
      <vt:lpstr>Reconocimiento de Objetos</vt:lpstr>
      <vt:lpstr>Extracción de características y Procesamiento</vt:lpstr>
      <vt:lpstr>Ventajas / Desafíos</vt:lpstr>
      <vt:lpstr>Evolución</vt:lpstr>
      <vt:lpstr>Referencias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711</cp:revision>
  <dcterms:created xsi:type="dcterms:W3CDTF">2025-11-10T01:11:37Z</dcterms:created>
  <dcterms:modified xsi:type="dcterms:W3CDTF">2025-11-17T00:10:10Z</dcterms:modified>
</cp:coreProperties>
</file>